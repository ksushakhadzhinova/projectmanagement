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408" r:id="rId3"/>
    <p:sldId id="409" r:id="rId4"/>
    <p:sldId id="464" r:id="rId5"/>
    <p:sldId id="268" r:id="rId6"/>
    <p:sldId id="410" r:id="rId7"/>
    <p:sldId id="405" r:id="rId8"/>
    <p:sldId id="406" r:id="rId9"/>
    <p:sldId id="411" r:id="rId10"/>
    <p:sldId id="413" r:id="rId11"/>
    <p:sldId id="414" r:id="rId12"/>
    <p:sldId id="415" r:id="rId13"/>
    <p:sldId id="416" r:id="rId14"/>
    <p:sldId id="270" r:id="rId15"/>
    <p:sldId id="282" r:id="rId16"/>
    <p:sldId id="455" r:id="rId17"/>
    <p:sldId id="457" r:id="rId18"/>
    <p:sldId id="447" r:id="rId19"/>
    <p:sldId id="403" r:id="rId20"/>
    <p:sldId id="427" r:id="rId21"/>
    <p:sldId id="456" r:id="rId22"/>
    <p:sldId id="288" r:id="rId23"/>
    <p:sldId id="423" r:id="rId24"/>
    <p:sldId id="458" r:id="rId25"/>
    <p:sldId id="459" r:id="rId26"/>
    <p:sldId id="460" r:id="rId27"/>
    <p:sldId id="461" r:id="rId28"/>
    <p:sldId id="462" r:id="rId29"/>
    <p:sldId id="420" r:id="rId30"/>
    <p:sldId id="279" r:id="rId3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865"/>
  </p:normalViewPr>
  <p:slideViewPr>
    <p:cSldViewPr snapToGrid="0" snapToObjects="1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52A0CC-F10B-4CA3-8394-CCA828C4FC6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067A203-7A7E-405A-A7EF-491397DFE4D8}">
      <dgm:prSet phldrT="[Текст]"/>
      <dgm:spPr/>
      <dgm:t>
        <a:bodyPr/>
        <a:lstStyle/>
        <a:p>
          <a:r>
            <a:rPr lang="ru-RU" b="1" dirty="0"/>
            <a:t>Симптомы риска</a:t>
          </a:r>
        </a:p>
      </dgm:t>
    </dgm:pt>
    <dgm:pt modelId="{C5B6663E-AED6-45DA-B1F4-917FBA4BE22E}" type="parTrans" cxnId="{964C1D3C-014F-4179-804F-6818E05FC099}">
      <dgm:prSet/>
      <dgm:spPr/>
      <dgm:t>
        <a:bodyPr/>
        <a:lstStyle/>
        <a:p>
          <a:endParaRPr lang="ru-RU"/>
        </a:p>
      </dgm:t>
    </dgm:pt>
    <dgm:pt modelId="{E6B7232F-52EE-4D52-BABE-3BD45FD7F024}" type="sibTrans" cxnId="{964C1D3C-014F-4179-804F-6818E05FC099}">
      <dgm:prSet/>
      <dgm:spPr/>
      <dgm:t>
        <a:bodyPr/>
        <a:lstStyle/>
        <a:p>
          <a:endParaRPr lang="ru-RU"/>
        </a:p>
      </dgm:t>
    </dgm:pt>
    <dgm:pt modelId="{DF5CFD66-CD31-42AD-93CB-B8DA7A0210C0}">
      <dgm:prSet/>
      <dgm:spPr/>
      <dgm:t>
        <a:bodyPr/>
        <a:lstStyle/>
        <a:p>
          <a:r>
            <a:rPr lang="ru-RU" b="1" dirty="0"/>
            <a:t>Влияние риска</a:t>
          </a:r>
          <a:endParaRPr lang="ru-RU" dirty="0"/>
        </a:p>
      </dgm:t>
    </dgm:pt>
    <dgm:pt modelId="{186AF098-272D-4409-9FEA-5F8CD0DE2AEC}" type="parTrans" cxnId="{18EF2952-45FE-4B27-A460-E63E0B13AAF6}">
      <dgm:prSet/>
      <dgm:spPr/>
      <dgm:t>
        <a:bodyPr/>
        <a:lstStyle/>
        <a:p>
          <a:endParaRPr lang="ru-RU"/>
        </a:p>
      </dgm:t>
    </dgm:pt>
    <dgm:pt modelId="{4028F651-99B5-45E8-A0AE-89546CC4CE75}" type="sibTrans" cxnId="{18EF2952-45FE-4B27-A460-E63E0B13AAF6}">
      <dgm:prSet/>
      <dgm:spPr/>
      <dgm:t>
        <a:bodyPr/>
        <a:lstStyle/>
        <a:p>
          <a:endParaRPr lang="ru-RU"/>
        </a:p>
      </dgm:t>
    </dgm:pt>
    <dgm:pt modelId="{EECFA502-2FC2-43B7-91BD-B1569C9144B4}">
      <dgm:prSet/>
      <dgm:spPr/>
      <dgm:t>
        <a:bodyPr/>
        <a:lstStyle/>
        <a:p>
          <a:r>
            <a:rPr lang="ru-RU" b="1" dirty="0"/>
            <a:t>Последствия риска</a:t>
          </a:r>
          <a:endParaRPr lang="ru-RU" dirty="0"/>
        </a:p>
      </dgm:t>
    </dgm:pt>
    <dgm:pt modelId="{C073BED6-5F56-4785-A786-DE0D80F88F5D}" type="parTrans" cxnId="{416FC898-A799-4D42-BC03-793583785B6F}">
      <dgm:prSet/>
      <dgm:spPr/>
      <dgm:t>
        <a:bodyPr/>
        <a:lstStyle/>
        <a:p>
          <a:endParaRPr lang="ru-RU"/>
        </a:p>
      </dgm:t>
    </dgm:pt>
    <dgm:pt modelId="{F8FAD39A-F89A-49A2-B2E8-B13AF8CE19A0}" type="sibTrans" cxnId="{416FC898-A799-4D42-BC03-793583785B6F}">
      <dgm:prSet/>
      <dgm:spPr/>
      <dgm:t>
        <a:bodyPr/>
        <a:lstStyle/>
        <a:p>
          <a:endParaRPr lang="ru-RU"/>
        </a:p>
      </dgm:t>
    </dgm:pt>
    <dgm:pt modelId="{B3E3518B-AED5-4405-BE45-E7D4778A3682}">
      <dgm:prSet/>
      <dgm:spPr/>
      <dgm:t>
        <a:bodyPr/>
        <a:lstStyle/>
        <a:p>
          <a:r>
            <a:rPr lang="ru-RU" dirty="0"/>
            <a:t>Причина или источник риска </a:t>
          </a:r>
        </a:p>
      </dgm:t>
    </dgm:pt>
    <dgm:pt modelId="{69D36641-8FA7-4618-806C-9E7F000D2308}" type="parTrans" cxnId="{DDA4BD89-E769-4E8E-8B47-83F144383DDE}">
      <dgm:prSet/>
      <dgm:spPr/>
      <dgm:t>
        <a:bodyPr/>
        <a:lstStyle/>
        <a:p>
          <a:endParaRPr lang="ru-RU"/>
        </a:p>
      </dgm:t>
    </dgm:pt>
    <dgm:pt modelId="{C64C6DD8-0CCB-4228-9EC0-2F72E554D2A0}" type="sibTrans" cxnId="{DDA4BD89-E769-4E8E-8B47-83F144383DDE}">
      <dgm:prSet/>
      <dgm:spPr/>
      <dgm:t>
        <a:bodyPr/>
        <a:lstStyle/>
        <a:p>
          <a:endParaRPr lang="ru-RU"/>
        </a:p>
      </dgm:t>
    </dgm:pt>
    <dgm:pt modelId="{4513AACD-89BD-4587-B64B-42643C72215D}">
      <dgm:prSet/>
      <dgm:spPr/>
      <dgm:t>
        <a:bodyPr/>
        <a:lstStyle/>
        <a:p>
          <a:r>
            <a:rPr lang="ru-RU" dirty="0"/>
            <a:t>Альтернативность риска </a:t>
          </a:r>
        </a:p>
      </dgm:t>
    </dgm:pt>
    <dgm:pt modelId="{DE243B5A-F6D4-4653-AD4F-C3FB9A813F85}" type="parTrans" cxnId="{D1E13926-D740-4A3F-B2E6-BD483436B767}">
      <dgm:prSet/>
      <dgm:spPr/>
      <dgm:t>
        <a:bodyPr/>
        <a:lstStyle/>
        <a:p>
          <a:endParaRPr lang="ru-RU"/>
        </a:p>
      </dgm:t>
    </dgm:pt>
    <dgm:pt modelId="{77702306-8C35-4AFC-85DE-6ACC739D5759}" type="sibTrans" cxnId="{D1E13926-D740-4A3F-B2E6-BD483436B767}">
      <dgm:prSet/>
      <dgm:spPr/>
      <dgm:t>
        <a:bodyPr/>
        <a:lstStyle/>
        <a:p>
          <a:endParaRPr lang="ru-RU"/>
        </a:p>
      </dgm:t>
    </dgm:pt>
    <dgm:pt modelId="{41001A6B-056F-46C0-81CB-F17BF8E8FD3C}" type="pres">
      <dgm:prSet presAssocID="{8F52A0CC-F10B-4CA3-8394-CCA828C4FC60}" presName="compositeShape" presStyleCnt="0">
        <dgm:presLayoutVars>
          <dgm:chMax val="7"/>
          <dgm:dir/>
          <dgm:resizeHandles val="exact"/>
        </dgm:presLayoutVars>
      </dgm:prSet>
      <dgm:spPr/>
    </dgm:pt>
    <dgm:pt modelId="{0C4D190F-B31C-45DB-9AA4-9CFCE68917AC}" type="pres">
      <dgm:prSet presAssocID="{2067A203-7A7E-405A-A7EF-491397DFE4D8}" presName="circ1" presStyleLbl="vennNode1" presStyleIdx="0" presStyleCnt="5"/>
      <dgm:spPr/>
    </dgm:pt>
    <dgm:pt modelId="{D0A66597-CCB8-48B5-936D-40C501F06F72}" type="pres">
      <dgm:prSet presAssocID="{2067A203-7A7E-405A-A7EF-491397DFE4D8}" presName="circ1Tx" presStyleLbl="revTx" presStyleIdx="0" presStyleCnt="0" custScaleX="101625" custScaleY="113187" custLinFactX="26628" custLinFactNeighborX="100000" custLinFactNeighborY="42935">
        <dgm:presLayoutVars>
          <dgm:chMax val="0"/>
          <dgm:chPref val="0"/>
          <dgm:bulletEnabled val="1"/>
        </dgm:presLayoutVars>
      </dgm:prSet>
      <dgm:spPr/>
    </dgm:pt>
    <dgm:pt modelId="{4358793E-5B29-418B-B1DB-B29A6C150320}" type="pres">
      <dgm:prSet presAssocID="{DF5CFD66-CD31-42AD-93CB-B8DA7A0210C0}" presName="circ2" presStyleLbl="vennNode1" presStyleIdx="1" presStyleCnt="5"/>
      <dgm:spPr/>
    </dgm:pt>
    <dgm:pt modelId="{7EE9757E-40D8-4899-8E5D-E3C266B2EE26}" type="pres">
      <dgm:prSet presAssocID="{DF5CFD66-CD31-42AD-93CB-B8DA7A0210C0}" presName="circ2Tx" presStyleLbl="revTx" presStyleIdx="0" presStyleCnt="0" custLinFactNeighborX="46316" custLinFactNeighborY="93766">
        <dgm:presLayoutVars>
          <dgm:chMax val="0"/>
          <dgm:chPref val="0"/>
          <dgm:bulletEnabled val="1"/>
        </dgm:presLayoutVars>
      </dgm:prSet>
      <dgm:spPr/>
    </dgm:pt>
    <dgm:pt modelId="{6AD8D8BF-EFCE-42FA-BAEE-8BCD5FF97A8F}" type="pres">
      <dgm:prSet presAssocID="{EECFA502-2FC2-43B7-91BD-B1569C9144B4}" presName="circ3" presStyleLbl="vennNode1" presStyleIdx="2" presStyleCnt="5"/>
      <dgm:spPr/>
    </dgm:pt>
    <dgm:pt modelId="{9B6EA6DF-DBC2-406B-B5DE-06170A08CA77}" type="pres">
      <dgm:prSet presAssocID="{EECFA502-2FC2-43B7-91BD-B1569C9144B4}" presName="circ3Tx" presStyleLbl="revTx" presStyleIdx="0" presStyleCnt="0" custLinFactX="-114195" custLinFactY="-14258" custLinFactNeighborX="-200000" custLinFactNeighborY="-100000">
        <dgm:presLayoutVars>
          <dgm:chMax val="0"/>
          <dgm:chPref val="0"/>
          <dgm:bulletEnabled val="1"/>
        </dgm:presLayoutVars>
      </dgm:prSet>
      <dgm:spPr/>
    </dgm:pt>
    <dgm:pt modelId="{8EBD2B3B-018E-4AFB-BF7E-3A5DC30D44B7}" type="pres">
      <dgm:prSet presAssocID="{B3E3518B-AED5-4405-BE45-E7D4778A3682}" presName="circ4" presStyleLbl="vennNode1" presStyleIdx="3" presStyleCnt="5"/>
      <dgm:spPr/>
    </dgm:pt>
    <dgm:pt modelId="{46C7A1A0-F786-4C75-8053-8CE18E08C05A}" type="pres">
      <dgm:prSet presAssocID="{B3E3518B-AED5-4405-BE45-E7D4778A3682}" presName="circ4Tx" presStyleLbl="revTx" presStyleIdx="0" presStyleCnt="0" custLinFactX="-100000" custLinFactY="-100000" custLinFactNeighborX="-157691" custLinFactNeighborY="-188177">
        <dgm:presLayoutVars>
          <dgm:chMax val="0"/>
          <dgm:chPref val="0"/>
          <dgm:bulletEnabled val="1"/>
        </dgm:presLayoutVars>
      </dgm:prSet>
      <dgm:spPr/>
    </dgm:pt>
    <dgm:pt modelId="{C76D5725-8EB3-486A-BBCE-33CAC80C7C52}" type="pres">
      <dgm:prSet presAssocID="{4513AACD-89BD-4587-B64B-42643C72215D}" presName="circ5" presStyleLbl="vennNode1" presStyleIdx="4" presStyleCnt="5"/>
      <dgm:spPr/>
    </dgm:pt>
    <dgm:pt modelId="{599B3C1C-68E7-496B-83FC-ABC4AB0BE5D4}" type="pres">
      <dgm:prSet presAssocID="{4513AACD-89BD-4587-B64B-42643C72215D}" presName="circ5Tx" presStyleLbl="revTx" presStyleIdx="0" presStyleCnt="0" custLinFactY="62397" custLinFactNeighborX="-9997" custLinFactNeighborY="100000">
        <dgm:presLayoutVars>
          <dgm:chMax val="0"/>
          <dgm:chPref val="0"/>
          <dgm:bulletEnabled val="1"/>
        </dgm:presLayoutVars>
      </dgm:prSet>
      <dgm:spPr/>
    </dgm:pt>
  </dgm:ptLst>
  <dgm:cxnLst>
    <dgm:cxn modelId="{D1E13926-D740-4A3F-B2E6-BD483436B767}" srcId="{8F52A0CC-F10B-4CA3-8394-CCA828C4FC60}" destId="{4513AACD-89BD-4587-B64B-42643C72215D}" srcOrd="4" destOrd="0" parTransId="{DE243B5A-F6D4-4653-AD4F-C3FB9A813F85}" sibTransId="{77702306-8C35-4AFC-85DE-6ACC739D5759}"/>
    <dgm:cxn modelId="{05FACC2D-C9B2-417F-9645-1ADCFFC2BA65}" type="presOf" srcId="{4513AACD-89BD-4587-B64B-42643C72215D}" destId="{599B3C1C-68E7-496B-83FC-ABC4AB0BE5D4}" srcOrd="0" destOrd="0" presId="urn:microsoft.com/office/officeart/2005/8/layout/venn1"/>
    <dgm:cxn modelId="{964C1D3C-014F-4179-804F-6818E05FC099}" srcId="{8F52A0CC-F10B-4CA3-8394-CCA828C4FC60}" destId="{2067A203-7A7E-405A-A7EF-491397DFE4D8}" srcOrd="0" destOrd="0" parTransId="{C5B6663E-AED6-45DA-B1F4-917FBA4BE22E}" sibTransId="{E6B7232F-52EE-4D52-BABE-3BD45FD7F024}"/>
    <dgm:cxn modelId="{79E0A33C-6AE5-44CF-95E1-3027F68DAFBC}" type="presOf" srcId="{DF5CFD66-CD31-42AD-93CB-B8DA7A0210C0}" destId="{7EE9757E-40D8-4899-8E5D-E3C266B2EE26}" srcOrd="0" destOrd="0" presId="urn:microsoft.com/office/officeart/2005/8/layout/venn1"/>
    <dgm:cxn modelId="{A01B2043-1C9E-4E42-8836-A23AFD3AC864}" type="presOf" srcId="{EECFA502-2FC2-43B7-91BD-B1569C9144B4}" destId="{9B6EA6DF-DBC2-406B-B5DE-06170A08CA77}" srcOrd="0" destOrd="0" presId="urn:microsoft.com/office/officeart/2005/8/layout/venn1"/>
    <dgm:cxn modelId="{1FBAA047-7805-4DB9-AE30-F4CEA433A77F}" type="presOf" srcId="{2067A203-7A7E-405A-A7EF-491397DFE4D8}" destId="{D0A66597-CCB8-48B5-936D-40C501F06F72}" srcOrd="0" destOrd="0" presId="urn:microsoft.com/office/officeart/2005/8/layout/venn1"/>
    <dgm:cxn modelId="{41EC426D-AB9B-490B-88B4-0247D2DCAC87}" type="presOf" srcId="{8F52A0CC-F10B-4CA3-8394-CCA828C4FC60}" destId="{41001A6B-056F-46C0-81CB-F17BF8E8FD3C}" srcOrd="0" destOrd="0" presId="urn:microsoft.com/office/officeart/2005/8/layout/venn1"/>
    <dgm:cxn modelId="{18EF2952-45FE-4B27-A460-E63E0B13AAF6}" srcId="{8F52A0CC-F10B-4CA3-8394-CCA828C4FC60}" destId="{DF5CFD66-CD31-42AD-93CB-B8DA7A0210C0}" srcOrd="1" destOrd="0" parTransId="{186AF098-272D-4409-9FEA-5F8CD0DE2AEC}" sibTransId="{4028F651-99B5-45E8-A0AE-89546CC4CE75}"/>
    <dgm:cxn modelId="{DDA4BD89-E769-4E8E-8B47-83F144383DDE}" srcId="{8F52A0CC-F10B-4CA3-8394-CCA828C4FC60}" destId="{B3E3518B-AED5-4405-BE45-E7D4778A3682}" srcOrd="3" destOrd="0" parTransId="{69D36641-8FA7-4618-806C-9E7F000D2308}" sibTransId="{C64C6DD8-0CCB-4228-9EC0-2F72E554D2A0}"/>
    <dgm:cxn modelId="{416FC898-A799-4D42-BC03-793583785B6F}" srcId="{8F52A0CC-F10B-4CA3-8394-CCA828C4FC60}" destId="{EECFA502-2FC2-43B7-91BD-B1569C9144B4}" srcOrd="2" destOrd="0" parTransId="{C073BED6-5F56-4785-A786-DE0D80F88F5D}" sibTransId="{F8FAD39A-F89A-49A2-B2E8-B13AF8CE19A0}"/>
    <dgm:cxn modelId="{EE53EAB1-77B1-4D8F-953C-F02FB05C85AD}" type="presOf" srcId="{B3E3518B-AED5-4405-BE45-E7D4778A3682}" destId="{46C7A1A0-F786-4C75-8053-8CE18E08C05A}" srcOrd="0" destOrd="0" presId="urn:microsoft.com/office/officeart/2005/8/layout/venn1"/>
    <dgm:cxn modelId="{217337F1-7A16-489A-BCDF-BF8B7E3B55F8}" type="presParOf" srcId="{41001A6B-056F-46C0-81CB-F17BF8E8FD3C}" destId="{0C4D190F-B31C-45DB-9AA4-9CFCE68917AC}" srcOrd="0" destOrd="0" presId="urn:microsoft.com/office/officeart/2005/8/layout/venn1"/>
    <dgm:cxn modelId="{E4A96053-EF03-4325-ADDF-647926DB43D8}" type="presParOf" srcId="{41001A6B-056F-46C0-81CB-F17BF8E8FD3C}" destId="{D0A66597-CCB8-48B5-936D-40C501F06F72}" srcOrd="1" destOrd="0" presId="urn:microsoft.com/office/officeart/2005/8/layout/venn1"/>
    <dgm:cxn modelId="{04EFC9D6-1A68-45CA-9CF6-2B567815FD1C}" type="presParOf" srcId="{41001A6B-056F-46C0-81CB-F17BF8E8FD3C}" destId="{4358793E-5B29-418B-B1DB-B29A6C150320}" srcOrd="2" destOrd="0" presId="urn:microsoft.com/office/officeart/2005/8/layout/venn1"/>
    <dgm:cxn modelId="{550C3F89-5AFF-4860-B5AD-3B7B56752AD8}" type="presParOf" srcId="{41001A6B-056F-46C0-81CB-F17BF8E8FD3C}" destId="{7EE9757E-40D8-4899-8E5D-E3C266B2EE26}" srcOrd="3" destOrd="0" presId="urn:microsoft.com/office/officeart/2005/8/layout/venn1"/>
    <dgm:cxn modelId="{ADF1BAA7-3AB1-4AF5-AA93-359B438F68AE}" type="presParOf" srcId="{41001A6B-056F-46C0-81CB-F17BF8E8FD3C}" destId="{6AD8D8BF-EFCE-42FA-BAEE-8BCD5FF97A8F}" srcOrd="4" destOrd="0" presId="urn:microsoft.com/office/officeart/2005/8/layout/venn1"/>
    <dgm:cxn modelId="{41DB04A7-DD93-4361-8071-CA56FDDAA53E}" type="presParOf" srcId="{41001A6B-056F-46C0-81CB-F17BF8E8FD3C}" destId="{9B6EA6DF-DBC2-406B-B5DE-06170A08CA77}" srcOrd="5" destOrd="0" presId="urn:microsoft.com/office/officeart/2005/8/layout/venn1"/>
    <dgm:cxn modelId="{535E2F76-4D28-4FFA-80E1-623880E06CD7}" type="presParOf" srcId="{41001A6B-056F-46C0-81CB-F17BF8E8FD3C}" destId="{8EBD2B3B-018E-4AFB-BF7E-3A5DC30D44B7}" srcOrd="6" destOrd="0" presId="urn:microsoft.com/office/officeart/2005/8/layout/venn1"/>
    <dgm:cxn modelId="{A621F502-A58B-449E-A4DF-EB5F7D93E12D}" type="presParOf" srcId="{41001A6B-056F-46C0-81CB-F17BF8E8FD3C}" destId="{46C7A1A0-F786-4C75-8053-8CE18E08C05A}" srcOrd="7" destOrd="0" presId="urn:microsoft.com/office/officeart/2005/8/layout/venn1"/>
    <dgm:cxn modelId="{5DEEC780-6E92-4BF2-BD0B-128FC0F5392D}" type="presParOf" srcId="{41001A6B-056F-46C0-81CB-F17BF8E8FD3C}" destId="{C76D5725-8EB3-486A-BBCE-33CAC80C7C52}" srcOrd="8" destOrd="0" presId="urn:microsoft.com/office/officeart/2005/8/layout/venn1"/>
    <dgm:cxn modelId="{05648E24-E115-4B5C-90F0-505FB89B761B}" type="presParOf" srcId="{41001A6B-056F-46C0-81CB-F17BF8E8FD3C}" destId="{599B3C1C-68E7-496B-83FC-ABC4AB0BE5D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F6192A-8C5F-45DF-AAFF-74768013EB10}" type="doc">
      <dgm:prSet loTypeId="urn:microsoft.com/office/officeart/2005/8/layout/vList4#3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ru-RU"/>
        </a:p>
      </dgm:t>
    </dgm:pt>
    <dgm:pt modelId="{8BBE1471-29EC-41C8-823C-9F88302402F8}" type="pres">
      <dgm:prSet presAssocID="{85F6192A-8C5F-45DF-AAFF-74768013EB10}" presName="linear" presStyleCnt="0">
        <dgm:presLayoutVars>
          <dgm:dir/>
          <dgm:resizeHandles val="exact"/>
        </dgm:presLayoutVars>
      </dgm:prSet>
      <dgm:spPr/>
    </dgm:pt>
  </dgm:ptLst>
  <dgm:cxnLst>
    <dgm:cxn modelId="{1F3313F4-A7C4-49AE-95BD-CDC1EDFBFEB5}" type="presOf" srcId="{85F6192A-8C5F-45DF-AAFF-74768013EB10}" destId="{8BBE1471-29EC-41C8-823C-9F88302402F8}" srcOrd="0" destOrd="0" presId="urn:microsoft.com/office/officeart/2005/8/layout/vList4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F6192A-8C5F-45DF-AAFF-74768013EB10}" type="doc">
      <dgm:prSet loTypeId="urn:microsoft.com/office/officeart/2005/8/layout/vList4#7" loCatId="list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ru-RU"/>
        </a:p>
      </dgm:t>
    </dgm:pt>
    <dgm:pt modelId="{8BBE1471-29EC-41C8-823C-9F88302402F8}" type="pres">
      <dgm:prSet presAssocID="{85F6192A-8C5F-45DF-AAFF-74768013EB10}" presName="linear" presStyleCnt="0">
        <dgm:presLayoutVars>
          <dgm:dir/>
          <dgm:resizeHandles val="exact"/>
        </dgm:presLayoutVars>
      </dgm:prSet>
      <dgm:spPr/>
    </dgm:pt>
  </dgm:ptLst>
  <dgm:cxnLst>
    <dgm:cxn modelId="{A64D24B8-08CD-4755-A944-21579210E3DC}" type="presOf" srcId="{85F6192A-8C5F-45DF-AAFF-74768013EB10}" destId="{8BBE1471-29EC-41C8-823C-9F88302402F8}" srcOrd="0" destOrd="0" presId="urn:microsoft.com/office/officeart/2005/8/layout/vList4#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D190F-B31C-45DB-9AA4-9CFCE68917AC}">
      <dsp:nvSpPr>
        <dsp:cNvPr id="0" name=""/>
        <dsp:cNvSpPr/>
      </dsp:nvSpPr>
      <dsp:spPr>
        <a:xfrm>
          <a:off x="3322756" y="1324963"/>
          <a:ext cx="1584087" cy="15840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0A66597-CCB8-48B5-936D-40C501F06F72}">
      <dsp:nvSpPr>
        <dsp:cNvPr id="0" name=""/>
        <dsp:cNvSpPr/>
      </dsp:nvSpPr>
      <dsp:spPr>
        <a:xfrm>
          <a:off x="5507940" y="421592"/>
          <a:ext cx="1867401" cy="12038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Симптомы риска</a:t>
          </a:r>
        </a:p>
      </dsp:txBody>
      <dsp:txXfrm>
        <a:off x="5507940" y="421592"/>
        <a:ext cx="1867401" cy="1203858"/>
      </dsp:txXfrm>
    </dsp:sp>
    <dsp:sp modelId="{4358793E-5B29-418B-B1DB-B29A6C150320}">
      <dsp:nvSpPr>
        <dsp:cNvPr id="0" name=""/>
        <dsp:cNvSpPr/>
      </dsp:nvSpPr>
      <dsp:spPr>
        <a:xfrm>
          <a:off x="3925343" y="1762624"/>
          <a:ext cx="1584087" cy="15840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EE9757E-40D8-4899-8E5D-E3C266B2EE26}">
      <dsp:nvSpPr>
        <dsp:cNvPr id="0" name=""/>
        <dsp:cNvSpPr/>
      </dsp:nvSpPr>
      <dsp:spPr>
        <a:xfrm>
          <a:off x="6398556" y="2520285"/>
          <a:ext cx="1647450" cy="11541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Влияние риска</a:t>
          </a:r>
          <a:endParaRPr lang="ru-RU" sz="1600" kern="1200" dirty="0"/>
        </a:p>
      </dsp:txBody>
      <dsp:txXfrm>
        <a:off x="6398556" y="2520285"/>
        <a:ext cx="1647450" cy="1154120"/>
      </dsp:txXfrm>
    </dsp:sp>
    <dsp:sp modelId="{6AD8D8BF-EFCE-42FA-BAEE-8BCD5FF97A8F}">
      <dsp:nvSpPr>
        <dsp:cNvPr id="0" name=""/>
        <dsp:cNvSpPr/>
      </dsp:nvSpPr>
      <dsp:spPr>
        <a:xfrm>
          <a:off x="3695333" y="2471390"/>
          <a:ext cx="1584087" cy="15840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B6EA6DF-DBC2-406B-B5DE-06170A08CA77}">
      <dsp:nvSpPr>
        <dsp:cNvPr id="0" name=""/>
        <dsp:cNvSpPr/>
      </dsp:nvSpPr>
      <dsp:spPr>
        <a:xfrm>
          <a:off x="205862" y="2088231"/>
          <a:ext cx="1647450" cy="11541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Последствия риска</a:t>
          </a:r>
          <a:endParaRPr lang="ru-RU" sz="1600" kern="1200" dirty="0"/>
        </a:p>
      </dsp:txBody>
      <dsp:txXfrm>
        <a:off x="205862" y="2088231"/>
        <a:ext cx="1647450" cy="1154120"/>
      </dsp:txXfrm>
    </dsp:sp>
    <dsp:sp modelId="{8EBD2B3B-018E-4AFB-BF7E-3A5DC30D44B7}">
      <dsp:nvSpPr>
        <dsp:cNvPr id="0" name=""/>
        <dsp:cNvSpPr/>
      </dsp:nvSpPr>
      <dsp:spPr>
        <a:xfrm>
          <a:off x="2950179" y="2471390"/>
          <a:ext cx="1584087" cy="15840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6C7A1A0-F786-4C75-8053-8CE18E08C05A}">
      <dsp:nvSpPr>
        <dsp:cNvPr id="0" name=""/>
        <dsp:cNvSpPr/>
      </dsp:nvSpPr>
      <dsp:spPr>
        <a:xfrm>
          <a:off x="0" y="80996"/>
          <a:ext cx="1647450" cy="11541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Причина или источник риска </a:t>
          </a:r>
        </a:p>
      </dsp:txBody>
      <dsp:txXfrm>
        <a:off x="0" y="80996"/>
        <a:ext cx="1647450" cy="1154120"/>
      </dsp:txXfrm>
    </dsp:sp>
    <dsp:sp modelId="{C76D5725-8EB3-486A-BBCE-33CAC80C7C52}">
      <dsp:nvSpPr>
        <dsp:cNvPr id="0" name=""/>
        <dsp:cNvSpPr/>
      </dsp:nvSpPr>
      <dsp:spPr>
        <a:xfrm>
          <a:off x="2720169" y="1762624"/>
          <a:ext cx="1584087" cy="15840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99B3C1C-68E7-496B-83FC-ABC4AB0BE5D4}">
      <dsp:nvSpPr>
        <dsp:cNvPr id="0" name=""/>
        <dsp:cNvSpPr/>
      </dsp:nvSpPr>
      <dsp:spPr>
        <a:xfrm>
          <a:off x="781930" y="3312369"/>
          <a:ext cx="1647450" cy="11541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Альтернативность риска </a:t>
          </a:r>
        </a:p>
      </dsp:txBody>
      <dsp:txXfrm>
        <a:off x="781930" y="3312369"/>
        <a:ext cx="1647450" cy="1154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3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7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0FFA5-17C5-45CC-8EA5-7919B04B58E1}" type="datetimeFigureOut">
              <a:rPr lang="ru-BY" smtClean="0"/>
              <a:t>07/21/2026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9C988-D7C3-4980-A132-E31C37CDE9A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0631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9DE89-2444-4A7B-B88E-B8A146EFAF1D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080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9DE89-2444-4A7B-B88E-B8A146EFAF1D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3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9DE89-2444-4A7B-B88E-B8A146EFAF1D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9DE89-2444-4A7B-B88E-B8A146EFAF1D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927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9DE89-2444-4A7B-B88E-B8A146EFAF1D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926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80B49D-5480-4EBB-8A22-1649E77AEBEF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061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6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285717-B964-452D-8709-A62878C69598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5821-35F4-664A-BE0A-36B606CEC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990A-D120-874B-869D-CFC9142F3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167F-CCC8-D14E-9E56-7F9CF5A3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8A366-9273-3D48-9686-65310B12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A0E4-0010-E64C-8208-CE75322C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3218C-8009-2049-B631-D205DAEECC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380" r="2297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0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AF3F-9017-194C-BB41-45EF7C16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417B0-211C-3C48-A039-318B78705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8B343-F291-C944-98B2-1AB32AC0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EF896-3D61-D645-A725-F5CB162D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0FA25-2DF3-9C43-8EB5-CB5E1D8D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12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73FE-C7E8-BE46-B425-87B3096D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F0DB5-8443-5048-8A8D-07040FFE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2036-30FF-C14E-9750-5E8F68FD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5F52-CD17-8244-B0E3-72637141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0CD00-93EC-5748-9BCC-8D6580DC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005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50E7-4087-5840-B45E-B45CA898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2118-0B42-F046-8C3B-80AF80080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BE31C-AD3F-6D43-97F0-D48D44C1A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C5F74-AD6E-E54F-BDCA-0E74BB08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834EC-1EAA-9747-9046-337F13DA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49EDF-CC01-A349-8B0D-5E04A96F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928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C439-3EAD-2541-8127-BA42E4FF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BF6F1-F894-B34C-9383-EBD511425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44F63-88A0-2B4A-A521-318729A88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DF6BD-3EE5-774A-B085-2368AF761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F3BC1-5243-DE49-BF81-F362A91C5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BFD2D-0AEF-444F-94B3-AC4244DF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C67D4-C528-0A47-AED8-61FACB38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1B15B-4BFD-D840-B897-F8600B27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227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8C2F-C481-1042-B700-81359DC5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96DB7-F90F-0048-9C26-A11D7641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B12FC-296F-F04C-A8C7-894A89D9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AA3FD-2661-0F44-A182-28E75746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544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D6A15-FE24-0349-A175-F31F580A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0C140-CA1C-B14B-89A5-C59EAA27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B53AD-3D4B-B845-8952-3A2748D5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927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D21F-45A3-3741-86F9-8C1F98B5C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5CE2-C230-D94F-B755-25F4E857A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2832B-FA75-E04E-A04C-474EA7DF4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80683-2B59-D34B-B656-3B3B6A8C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1A743-E9C2-DA40-9A59-B97FAD88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9FCB9-9405-2742-A1ED-4AB03341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682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A031-CA56-BC40-A745-1BE83A7C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E947D-161F-F249-B064-BB7EC0603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E07DB-E949-9240-B8ED-AD4D595B9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E70A-6E62-204C-AA02-1E9EFBC5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BF2EC-1744-3F46-82E8-50CCE0B6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4ECDD-6DA2-554A-9E8F-A4D3A86F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988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9ED4-003B-9843-A921-CBE05D74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C71EE-AD81-B744-A1D1-892957255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B30F-D653-424D-9C4A-267B177C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4EC22-1F42-AB47-AA03-5EAF2635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BCB8-DB8E-F841-8DCF-13F8CF1A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390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6BE04-57B7-A44C-8FC9-6DC8239F3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DADB3-2230-ED46-943D-2E0647D5C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082E3-3BBC-DC4C-BA70-C6EAD992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4F7A4-5536-9E49-A688-1019E3B4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37F6-32B8-FA49-910B-D965370E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729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709B1F-2989-D443-BC6D-A062541DD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228" r="301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32CC0C3-FF49-BC49-9111-29CAF2D3E27B}"/>
              </a:ext>
            </a:extLst>
          </p:cNvPr>
          <p:cNvSpPr/>
          <p:nvPr userDrawn="1"/>
        </p:nvSpPr>
        <p:spPr>
          <a:xfrm>
            <a:off x="1213104" y="4773168"/>
            <a:ext cx="9418320" cy="2084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0301D-CEA0-0C49-97FB-36F6BEABA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7B326-3242-9E40-A077-FAEEB0A3B4D3}" type="datetimeFigureOut">
              <a:rPr lang="uk-UA" smtClean="0"/>
              <a:t>21.07.2026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193E-D0C5-1E45-8058-A9B101B13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DF1C-F4F5-D541-8FD9-D7E0AE321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9D71-BD86-AA4B-8D8A-43503DE87680}" type="slidenum">
              <a:rPr lang="uk-UA" smtClean="0"/>
              <a:t>‹#›</a:t>
            </a:fld>
            <a:endParaRPr lang="uk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F7B95E-4FAA-AB44-A95E-D6F5D4D36DD3}"/>
              </a:ext>
            </a:extLst>
          </p:cNvPr>
          <p:cNvSpPr/>
          <p:nvPr userDrawn="1"/>
        </p:nvSpPr>
        <p:spPr>
          <a:xfrm>
            <a:off x="0" y="0"/>
            <a:ext cx="9418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9DD1C-6FEC-C24E-A774-219C9E04A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397"/>
            <a:ext cx="10515600" cy="933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8120E-55DD-D847-AC3E-EDBF1E4D1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016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366A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7F81-200C-8A48-BB2C-87B1A800B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231136"/>
            <a:ext cx="6065520" cy="2760155"/>
          </a:xfrm>
        </p:spPr>
        <p:txBody>
          <a:bodyPr>
            <a:normAutofit fontScale="90000"/>
          </a:bodyPr>
          <a:lstStyle/>
          <a:p>
            <a:pPr algn="l"/>
            <a:r>
              <a:rPr lang="ru-RU" sz="6600" dirty="0">
                <a:solidFill>
                  <a:schemeClr val="bg1"/>
                </a:solidFill>
                <a:latin typeface="Seravek" panose="020B0503040000020004" pitchFamily="34" charset="0"/>
              </a:rPr>
              <a:t>Управление рисками проекта</a:t>
            </a:r>
            <a:endParaRPr lang="uk-UA" sz="6600" dirty="0">
              <a:solidFill>
                <a:schemeClr val="bg1"/>
              </a:solidFill>
              <a:latin typeface="Seravek" panose="020B05030400000200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9EC6-7916-F442-A569-150ECE249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" y="5083366"/>
            <a:ext cx="5370576" cy="1655762"/>
          </a:xfrm>
        </p:spPr>
        <p:txBody>
          <a:bodyPr/>
          <a:lstStyle/>
          <a:p>
            <a:pPr algn="l"/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3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Результаты успешности </a:t>
            </a:r>
            <a:r>
              <a:rPr lang="ru-RU" dirty="0" err="1"/>
              <a:t>ИТ-проектов</a:t>
            </a:r>
            <a:r>
              <a:rPr lang="ru-RU" dirty="0"/>
              <a:t> </a:t>
            </a: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00263" y="1981995"/>
            <a:ext cx="799147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4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Как управлять рисками IT-проекта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29180"/>
            <a:ext cx="7992888" cy="6496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0667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8BF54-ECB2-4858-ADE2-250851C5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/>
          </a:p>
        </p:txBody>
      </p:sp>
      <p:pic>
        <p:nvPicPr>
          <p:cNvPr id="1026" name="Picture 2" descr="PMBOK управление рисками">
            <a:extLst>
              <a:ext uri="{FF2B5EF4-FFF2-40B4-BE49-F238E27FC236}">
                <a16:creationId xmlns:a16="http://schemas.microsoft.com/office/drawing/2014/main" id="{0EB300C8-8A47-408B-9F9E-46882DDBC4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21" y="357552"/>
            <a:ext cx="7535163" cy="58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7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7">
            <a:extLst>
              <a:ext uri="{FF2B5EF4-FFF2-40B4-BE49-F238E27FC236}">
                <a16:creationId xmlns:a16="http://schemas.microsoft.com/office/drawing/2014/main" id="{F3A1DEE6-1EEE-4FA2-98FF-9CDB777F4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908720"/>
            <a:ext cx="6840274" cy="402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991" tIns="42996" rIns="85991" bIns="429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sz="3200" dirty="0"/>
              <a:t>Как следует из ANSI PMI PMBOК</a:t>
            </a:r>
          </a:p>
          <a:p>
            <a:endParaRPr lang="ru-RU" sz="3200" dirty="0"/>
          </a:p>
          <a:p>
            <a:r>
              <a:rPr lang="ru-RU" sz="3200" dirty="0"/>
              <a:t>Риск </a:t>
            </a:r>
            <a:r>
              <a:rPr lang="en-US" sz="3200" dirty="0"/>
              <a:t>— </a:t>
            </a:r>
            <a:r>
              <a:rPr lang="ru-RU" sz="3200" dirty="0"/>
              <a:t>это неопределенное событие или условие, которое может повлиять на цели проекта. </a:t>
            </a:r>
          </a:p>
          <a:p>
            <a:r>
              <a:rPr lang="ru-RU" sz="3200" dirty="0"/>
              <a:t>Риск </a:t>
            </a:r>
            <a:r>
              <a:rPr lang="en-US" sz="3200" dirty="0"/>
              <a:t>— </a:t>
            </a:r>
            <a:r>
              <a:rPr lang="ru-RU" sz="3200" dirty="0"/>
              <a:t>это проблема, которая может возникнуть, а проблема </a:t>
            </a:r>
            <a:r>
              <a:rPr lang="en-US" sz="3200" dirty="0"/>
              <a:t>— </a:t>
            </a:r>
            <a:r>
              <a:rPr lang="ru-RU" sz="3200" dirty="0"/>
              <a:t>это риск, который реализовался.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ru-RU" b="1" dirty="0"/>
              <a:t>Основные характеристики рисков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/>
          </p:nvPr>
        </p:nvGraphicFramePr>
        <p:xfrm>
          <a:off x="2001707" y="1196753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33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Барри  Боэм  </a:t>
            </a:r>
            <a:br>
              <a:rPr lang="ru-RU" sz="2400" dirty="0"/>
            </a:br>
            <a:r>
              <a:rPr lang="ru-RU" sz="2400" dirty="0"/>
              <a:t> Список  10  наиболее  распространенных рисков программного проекта: 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1.  Дефицит специалистов. </a:t>
            </a:r>
          </a:p>
          <a:p>
            <a:r>
              <a:rPr lang="ru-RU" dirty="0"/>
              <a:t>2.  Нереалистичные сроки и бюджет. </a:t>
            </a:r>
          </a:p>
          <a:p>
            <a:r>
              <a:rPr lang="ru-RU" dirty="0"/>
              <a:t>3.  Реализация несоответствующей функциональности. </a:t>
            </a:r>
          </a:p>
          <a:p>
            <a:r>
              <a:rPr lang="ru-RU" dirty="0"/>
              <a:t>4.  Разработка неправильного пользовательского интерфейса. </a:t>
            </a:r>
          </a:p>
          <a:p>
            <a:r>
              <a:rPr lang="ru-RU" dirty="0"/>
              <a:t>5.  ―Золотая  сервировка‖,  </a:t>
            </a:r>
            <a:r>
              <a:rPr lang="ru-RU" dirty="0" err="1"/>
              <a:t>перфекционизм</a:t>
            </a:r>
            <a:r>
              <a:rPr lang="ru-RU" dirty="0"/>
              <a:t>,  ненужная  оптимизация  и оттачивание деталей. </a:t>
            </a:r>
          </a:p>
          <a:p>
            <a:r>
              <a:rPr lang="ru-RU" dirty="0"/>
              <a:t>6.  Непрекращающийся поток изменений. </a:t>
            </a:r>
          </a:p>
          <a:p>
            <a:r>
              <a:rPr lang="ru-RU" dirty="0"/>
              <a:t>7.  Нехватка  информации  о  внешних  компонентах,  определяющих окружение системы или вовлеченных в интеграцию. </a:t>
            </a:r>
          </a:p>
          <a:p>
            <a:r>
              <a:rPr lang="ru-RU" dirty="0"/>
              <a:t>8.  Недостатки  в  работах,  выполняемых  внешними  (по  отношению  к проекту) ресурсами. </a:t>
            </a:r>
          </a:p>
          <a:p>
            <a:r>
              <a:rPr lang="ru-RU" dirty="0"/>
              <a:t>9.  Недостаточная производительность получаемой системы. </a:t>
            </a:r>
          </a:p>
          <a:p>
            <a:r>
              <a:rPr lang="ru-RU" dirty="0"/>
              <a:t>10.  ―Разрыв в квалификации специалистов разных областей знаний.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40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4393" y="6206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2700" dirty="0" err="1"/>
              <a:t>Демарко</a:t>
            </a:r>
            <a:r>
              <a:rPr lang="ru-RU" sz="2700" dirty="0"/>
              <a:t>  и  Листер  [1]  приводят  свой  список  из  пяти    наиболее  важных источников рисков любого проекта разработки ПО: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58793" y="2204865"/>
            <a:ext cx="8229600" cy="4525963"/>
          </a:xfrm>
        </p:spPr>
        <p:txBody>
          <a:bodyPr>
            <a:normAutofit/>
          </a:bodyPr>
          <a:lstStyle/>
          <a:p>
            <a:r>
              <a:rPr lang="ru-RU" dirty="0"/>
              <a:t>1.  Изъяны календарного планирования </a:t>
            </a:r>
          </a:p>
          <a:p>
            <a:r>
              <a:rPr lang="ru-RU" dirty="0"/>
              <a:t>2.  Текучесть кадров </a:t>
            </a:r>
          </a:p>
          <a:p>
            <a:r>
              <a:rPr lang="ru-RU" dirty="0"/>
              <a:t>3.  Раздувание требований </a:t>
            </a:r>
          </a:p>
          <a:p>
            <a:r>
              <a:rPr lang="ru-RU" dirty="0"/>
              <a:t>4.  Нарушение спецификаций </a:t>
            </a:r>
          </a:p>
          <a:p>
            <a:r>
              <a:rPr lang="ru-RU" dirty="0"/>
              <a:t>5.  Низкая производительность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673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рисками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4000" i="1" dirty="0"/>
              <a:t>Если какая-нибудь неприятность может случиться, она случится. </a:t>
            </a:r>
          </a:p>
          <a:p>
            <a:pPr>
              <a:buNone/>
            </a:pPr>
            <a:r>
              <a:rPr lang="ru-RU" sz="4000" i="1" dirty="0"/>
              <a:t>					Закон </a:t>
            </a:r>
            <a:r>
              <a:rPr lang="ru-RU" sz="4000" i="1" dirty="0" err="1"/>
              <a:t>Мерфи</a:t>
            </a:r>
            <a:endParaRPr lang="ru-RU" sz="4000" dirty="0"/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2526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Девиз разработчиков программного обеспечения из </a:t>
            </a:r>
            <a:r>
              <a:rPr lang="ru-RU" sz="3600" dirty="0" err="1"/>
              <a:t>Microsoft</a:t>
            </a:r>
            <a:r>
              <a:rPr lang="ru-RU" sz="3600" dirty="0"/>
              <a:t>:</a:t>
            </a:r>
          </a:p>
          <a:p>
            <a:pPr>
              <a:buNone/>
            </a:pPr>
            <a:r>
              <a:rPr lang="ru-RU" sz="3600" dirty="0"/>
              <a:t>		«Мы не боремся с рисками —</a:t>
            </a:r>
          </a:p>
          <a:p>
            <a:pPr>
              <a:buNone/>
            </a:pPr>
            <a:r>
              <a:rPr lang="ru-RU" sz="3600" dirty="0"/>
              <a:t>				 мы ими управляем».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87683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Управление рисками </a:t>
            </a:r>
            <a:r>
              <a:rPr lang="ru-RU" dirty="0"/>
              <a:t>– это процессы, связанные с идентификацией, анализом рисков и принятием решений, которые включают максимизацию положительных и минимизацию отрицательных последствий наступления рисковых событий. </a:t>
            </a:r>
          </a:p>
        </p:txBody>
      </p:sp>
    </p:spTree>
    <p:extLst>
      <p:ext uri="{BB962C8B-B14F-4D97-AF65-F5344CB8AC3E}">
        <p14:creationId xmlns:p14="http://schemas.microsoft.com/office/powerpoint/2010/main" val="348857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В стандарте </a:t>
            </a:r>
            <a:r>
              <a:rPr lang="ru-RU" sz="3200" dirty="0" err="1"/>
              <a:t>Project</a:t>
            </a:r>
            <a:r>
              <a:rPr lang="ru-RU" sz="3200" dirty="0"/>
              <a:t> </a:t>
            </a:r>
            <a:r>
              <a:rPr lang="ru-RU" sz="3200" dirty="0" err="1"/>
              <a:t>Management</a:t>
            </a:r>
            <a:r>
              <a:rPr lang="ru-RU" sz="3200" dirty="0"/>
              <a:t> </a:t>
            </a:r>
            <a:r>
              <a:rPr lang="ru-RU" sz="3200" dirty="0" err="1"/>
              <a:t>Body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Knowledge</a:t>
            </a:r>
            <a:r>
              <a:rPr lang="ru-RU" sz="3200" dirty="0"/>
              <a:t>, принятом в 2000 году, описаны шесть процедур управления рисками: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844824"/>
            <a:ext cx="8363272" cy="475252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Планирование управления рисками – выбор подходов и планирование деятельности по управлению рисками проекта.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Идентификация рисков – определение рисков, способных повлиять на проект, и документирование их характеристик.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Качественная оценка рисков – качественный анализ рисков и условий их возникновения с целью определения их влияния на успех проекта. </a:t>
            </a:r>
          </a:p>
        </p:txBody>
      </p:sp>
    </p:spTree>
    <p:extLst>
      <p:ext uri="{BB962C8B-B14F-4D97-AF65-F5344CB8AC3E}">
        <p14:creationId xmlns:p14="http://schemas.microsoft.com/office/powerpoint/2010/main" val="2931803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340768"/>
            <a:ext cx="8435280" cy="518457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ru-RU" dirty="0"/>
              <a:t>Количественная оценка – количественный анализ вероятности возникновения и влияния последствий рисков на проект.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/>
              <a:t>Планирование реагирования на риски – определение процедур и методов по ослаблению отрицательных последствий рисковых событий и использованию возможных преимуществ.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/>
              <a:t>Мониторинг и контроль рисков - мониторинг рисков, определение остающихся рисков, выполнение плана управления рисками проекта и оценка эффективности действий по минимизации рисков. </a:t>
            </a:r>
          </a:p>
          <a:p>
            <a:pPr marL="514350" indent="-514350">
              <a:buFont typeface="+mj-lt"/>
              <a:buAutoNum type="arabicPeriod" startAt="4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35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https://pmjournal.ru/upload/PMBOK/clip_image098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0"/>
            <a:ext cx="5796136" cy="695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53208304-B120-4211-A365-CB18FD7F8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410" y="236178"/>
            <a:ext cx="7543765" cy="1135874"/>
          </a:xfrm>
        </p:spPr>
        <p:txBody>
          <a:bodyPr/>
          <a:lstStyle/>
          <a:p>
            <a:pPr algn="ctr" eaLnBrk="1" hangingPunct="1"/>
            <a:r>
              <a:rPr lang="ru-RU" altLang="ru-RU"/>
              <a:t>Идентификация риска </a:t>
            </a:r>
          </a:p>
        </p:txBody>
      </p:sp>
      <p:sp>
        <p:nvSpPr>
          <p:cNvPr id="30723" name="Text Box 5">
            <a:extLst>
              <a:ext uri="{FF2B5EF4-FFF2-40B4-BE49-F238E27FC236}">
                <a16:creationId xmlns:a16="http://schemas.microsoft.com/office/drawing/2014/main" id="{BD86109E-60FF-4B6B-8445-E5D438DBD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438" y="1968491"/>
            <a:ext cx="7488153" cy="2953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991" tIns="42996" rIns="85991" bIns="429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ru-RU" altLang="ru-RU" sz="2627" b="1"/>
              <a:t>Предусматривает определение рисков, способных повлиять на развитие предприятия, и документальное оформление их характеристик и базируется на </a:t>
            </a:r>
            <a:r>
              <a:rPr lang="ru-RU" altLang="ru-RU" sz="2627" b="1" u="sng"/>
              <a:t>методах </a:t>
            </a:r>
            <a:r>
              <a:rPr lang="ru-RU" altLang="ru-RU" sz="2627" b="1"/>
              <a:t>проигрывания различных вариантов будущих событий: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Выгнутая вниз стрелка 50"/>
          <p:cNvSpPr/>
          <p:nvPr/>
        </p:nvSpPr>
        <p:spPr>
          <a:xfrm>
            <a:off x="3791744" y="5805264"/>
            <a:ext cx="4536504" cy="86409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Идентификация рисков</a:t>
            </a:r>
          </a:p>
        </p:txBody>
      </p:sp>
      <p:sp>
        <p:nvSpPr>
          <p:cNvPr id="22" name="Прямоугольник 24"/>
          <p:cNvSpPr>
            <a:spLocks noChangeArrowheads="1"/>
          </p:cNvSpPr>
          <p:nvPr/>
        </p:nvSpPr>
        <p:spPr bwMode="auto">
          <a:xfrm>
            <a:off x="1774825" y="1004536"/>
            <a:ext cx="8642350" cy="1200329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ru-RU" sz="2400" b="1" dirty="0">
                <a:cs typeface="Arial" pitchFamily="34" charset="0"/>
              </a:rPr>
              <a:t>Идентификация рисков – </a:t>
            </a:r>
            <a:r>
              <a:rPr lang="ru-RU" sz="2400" dirty="0">
                <a:cs typeface="Arial" pitchFamily="34" charset="0"/>
              </a:rPr>
              <a:t>определение (выявление) рисков , способных повлиять на проект, и документирование их характеристик.</a:t>
            </a:r>
            <a:r>
              <a:rPr lang="en-US" sz="2400" dirty="0"/>
              <a:t> </a:t>
            </a:r>
            <a:endParaRPr lang="ru-RU" sz="2400" b="1" dirty="0">
              <a:cs typeface="Arial" pitchFamily="34" charset="0"/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 bwMode="auto">
          <a:xfrm>
            <a:off x="1559496" y="3359298"/>
            <a:ext cx="1656184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Сбор информации</a:t>
            </a:r>
          </a:p>
        </p:txBody>
      </p:sp>
      <p:sp>
        <p:nvSpPr>
          <p:cNvPr id="27" name="Прямоугольник 24"/>
          <p:cNvSpPr>
            <a:spLocks noChangeArrowheads="1"/>
          </p:cNvSpPr>
          <p:nvPr/>
        </p:nvSpPr>
        <p:spPr bwMode="auto">
          <a:xfrm>
            <a:off x="1559496" y="4005064"/>
            <a:ext cx="1584176" cy="267765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Методы сбора информации: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Мозговой штурм: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Метод </a:t>
            </a:r>
            <a:r>
              <a:rPr lang="ru-RU" sz="1400" dirty="0" err="1">
                <a:cs typeface="Arial" pitchFamily="34" charset="0"/>
              </a:rPr>
              <a:t>Делфи</a:t>
            </a:r>
            <a:r>
              <a:rPr lang="ru-RU" sz="1400" dirty="0">
                <a:cs typeface="Arial" pitchFamily="34" charset="0"/>
              </a:rPr>
              <a:t>;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Интервью;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en-US" sz="1400" dirty="0">
                <a:cs typeface="Arial" pitchFamily="34" charset="0"/>
              </a:rPr>
              <a:t>SWOT-</a:t>
            </a:r>
            <a:r>
              <a:rPr lang="ru-RU" sz="1400" dirty="0">
                <a:cs typeface="Arial" pitchFamily="34" charset="0"/>
              </a:rPr>
              <a:t>анализ </a:t>
            </a: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V="1">
            <a:off x="9840416" y="3071886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423592" y="3068960"/>
            <a:ext cx="74168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V="1">
            <a:off x="4151784" y="3071886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V="1">
            <a:off x="8040216" y="3071886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132513" y="29274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Скругленный прямоугольник 35"/>
          <p:cNvSpPr/>
          <p:nvPr/>
        </p:nvSpPr>
        <p:spPr bwMode="auto">
          <a:xfrm>
            <a:off x="5159896" y="2135162"/>
            <a:ext cx="1872208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Методы идентификации</a:t>
            </a:r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6096000" y="2711524"/>
            <a:ext cx="0" cy="3603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V="1">
            <a:off x="2423592" y="3071886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Скругленный прямоугольник 40"/>
          <p:cNvSpPr/>
          <p:nvPr/>
        </p:nvSpPr>
        <p:spPr bwMode="auto">
          <a:xfrm>
            <a:off x="3359696" y="3356992"/>
            <a:ext cx="1656184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Анализ документации</a:t>
            </a:r>
          </a:p>
        </p:txBody>
      </p:sp>
      <p:sp>
        <p:nvSpPr>
          <p:cNvPr id="43" name="Скругленный прямоугольник 42"/>
          <p:cNvSpPr/>
          <p:nvPr/>
        </p:nvSpPr>
        <p:spPr bwMode="auto">
          <a:xfrm>
            <a:off x="5087888" y="3356992"/>
            <a:ext cx="2088232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Анализ контрольных листов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6096000" y="2996630"/>
            <a:ext cx="0" cy="3603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Скругленный прямоугольник 44"/>
          <p:cNvSpPr/>
          <p:nvPr/>
        </p:nvSpPr>
        <p:spPr bwMode="auto">
          <a:xfrm>
            <a:off x="7248128" y="3356992"/>
            <a:ext cx="1656184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Анализ предположений</a:t>
            </a:r>
          </a:p>
        </p:txBody>
      </p:sp>
      <p:sp>
        <p:nvSpPr>
          <p:cNvPr id="46" name="Скругленный прямоугольник 45"/>
          <p:cNvSpPr/>
          <p:nvPr/>
        </p:nvSpPr>
        <p:spPr bwMode="auto">
          <a:xfrm>
            <a:off x="8976320" y="3356992"/>
            <a:ext cx="1691680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Структурный анализ рисков</a:t>
            </a:r>
          </a:p>
        </p:txBody>
      </p:sp>
      <p:sp>
        <p:nvSpPr>
          <p:cNvPr id="48" name="Прямоугольник 24"/>
          <p:cNvSpPr>
            <a:spLocks noChangeArrowheads="1"/>
          </p:cNvSpPr>
          <p:nvPr/>
        </p:nvSpPr>
        <p:spPr bwMode="auto">
          <a:xfrm>
            <a:off x="3359696" y="4005064"/>
            <a:ext cx="1584176" cy="267765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Обзор существующих документов проекта, в т.ч. Плана проекта.</a:t>
            </a: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</p:txBody>
      </p:sp>
      <p:sp>
        <p:nvSpPr>
          <p:cNvPr id="49" name="Прямоугольник 24"/>
          <p:cNvSpPr>
            <a:spLocks noChangeArrowheads="1"/>
          </p:cNvSpPr>
          <p:nvPr/>
        </p:nvSpPr>
        <p:spPr bwMode="auto">
          <a:xfrm>
            <a:off x="5159896" y="4005064"/>
            <a:ext cx="2016224" cy="267765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Контрольные листы представляют собой списки типовых рисков для подобного класса проектов. Т.е. это выбор рисков из базы знаний. </a:t>
            </a: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</p:txBody>
      </p:sp>
      <p:sp>
        <p:nvSpPr>
          <p:cNvPr id="50" name="Прямоугольник 24"/>
          <p:cNvSpPr>
            <a:spLocks noChangeArrowheads="1"/>
          </p:cNvSpPr>
          <p:nvPr/>
        </p:nvSpPr>
        <p:spPr bwMode="auto">
          <a:xfrm>
            <a:off x="7320136" y="4005064"/>
            <a:ext cx="1584176" cy="267765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Каждый проект основывается на ряде гипотез и предположений.</a:t>
            </a:r>
          </a:p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Сначала исследуется правильность предположений, а затем идентифицируются риски.</a:t>
            </a: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</p:txBody>
      </p:sp>
      <p:sp>
        <p:nvSpPr>
          <p:cNvPr id="52" name="Прямоугольник 24"/>
          <p:cNvSpPr>
            <a:spLocks noChangeArrowheads="1"/>
          </p:cNvSpPr>
          <p:nvPr/>
        </p:nvSpPr>
        <p:spPr bwMode="auto">
          <a:xfrm>
            <a:off x="8976320" y="4005064"/>
            <a:ext cx="1584176" cy="267765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Выявление детальных факторов рисков;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Разделение сложных рисков на более простые;</a:t>
            </a:r>
          </a:p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Объединение рисков в группы</a:t>
            </a: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buFontTx/>
              <a:buChar char="-"/>
              <a:defRPr/>
            </a:pPr>
            <a:endParaRPr lang="ru-RU" sz="1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0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Идентификация рисков</a:t>
            </a:r>
          </a:p>
        </p:txBody>
      </p:sp>
      <p:sp>
        <p:nvSpPr>
          <p:cNvPr id="22" name="Прямоугольник 24"/>
          <p:cNvSpPr>
            <a:spLocks noChangeArrowheads="1"/>
          </p:cNvSpPr>
          <p:nvPr/>
        </p:nvSpPr>
        <p:spPr bwMode="auto">
          <a:xfrm>
            <a:off x="1774825" y="1004536"/>
            <a:ext cx="8642350" cy="584775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defRPr/>
            </a:pPr>
            <a:r>
              <a:rPr lang="ru-RU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itchFamily="34" charset="0"/>
              </a:rPr>
              <a:t>Разработка реестра рисков</a:t>
            </a:r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3048000" y="1779333"/>
          <a:ext cx="6096000" cy="3299335"/>
        </p:xfrm>
        <a:graphic>
          <a:graphicData uri="http://schemas.openxmlformats.org/drawingml/2006/table">
            <a:tbl>
              <a:tblPr/>
              <a:tblGrid>
                <a:gridCol w="479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8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8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3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7495" marR="7495" marT="74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3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Риск/Возможность</a:t>
                      </a:r>
                    </a:p>
                  </a:txBody>
                  <a:tcPr marL="7495" marR="7495" marT="74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3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Последствия</a:t>
                      </a:r>
                    </a:p>
                  </a:txBody>
                  <a:tcPr marL="7495" marR="7495" marT="74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3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Триггеры</a:t>
                      </a:r>
                    </a:p>
                  </a:txBody>
                  <a:tcPr marL="7495" marR="7495" marT="74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7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Р.1</a:t>
                      </a:r>
                    </a:p>
                  </a:txBody>
                  <a:tcPr marL="7495" marR="7495" marT="7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Зависимость реализации проекта  от сроков и технических решений по другим связанным проектам. </a:t>
                      </a:r>
                      <a:br>
                        <a:rPr lang="ru-RU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endParaRPr lang="ru-RU" sz="13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Срыв сроков начала работ по интеграции.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 Задержка сроков реализации связанных проектов более, чем на две недели.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7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Р.2</a:t>
                      </a:r>
                    </a:p>
                  </a:txBody>
                  <a:tcPr marL="7495" marR="7495" marT="7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Сложности с освоением сотрудниками новых для компании технических средств.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Срыв сроков передачи системы в промышленную  эксплуатация.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 Нежелание сотрудников работать в новой системе.</a:t>
                      </a:r>
                      <a:b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 Претензии к сложности интерфейса, к необходимости менять сложившийся алгоритм работы.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43">
                <a:tc>
                  <a:txBody>
                    <a:bodyPr/>
                    <a:lstStyle/>
                    <a:p>
                      <a:pPr algn="l" fontAlgn="b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В.1</a:t>
                      </a:r>
                    </a:p>
                  </a:txBody>
                  <a:tcPr marL="7495" marR="7495" marT="74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Использование разработанного шаблонного решения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Сокращение сроков проекта на 30-40%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 Успешно завершен проект по внедрению шаблонного решения. </a:t>
                      </a:r>
                    </a:p>
                  </a:txBody>
                  <a:tcPr marL="7495" marR="7495" marT="74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14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72C73ADC-FF29-453F-A7E0-340351BC3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410" y="717222"/>
            <a:ext cx="7543765" cy="770226"/>
          </a:xfrm>
        </p:spPr>
        <p:txBody>
          <a:bodyPr/>
          <a:lstStyle/>
          <a:p>
            <a:pPr algn="ctr" eaLnBrk="1" hangingPunct="1"/>
            <a:r>
              <a:rPr lang="ru-RU" altLang="ru-RU"/>
              <a:t>Оценка (анализ) риска </a:t>
            </a:r>
          </a:p>
        </p:txBody>
      </p:sp>
      <p:sp>
        <p:nvSpPr>
          <p:cNvPr id="34819" name="Text Box 5">
            <a:extLst>
              <a:ext uri="{FF2B5EF4-FFF2-40B4-BE49-F238E27FC236}">
                <a16:creationId xmlns:a16="http://schemas.microsoft.com/office/drawing/2014/main" id="{44ED58A0-F714-4CE6-BD0F-DAAB55E92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028" y="2038006"/>
            <a:ext cx="7128066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991" tIns="42996" rIns="85991" bIns="4299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627" b="1"/>
              <a:t>Совокупность регулярных процедур анализа риска, идентификации источников возникновения риска, определения возможных масштабов последствий проявления факторов риска и определения роли каждого источника в общем профиле риска данного предприятия.</a:t>
            </a:r>
            <a:r>
              <a:rPr lang="ru-RU" altLang="ru-RU" sz="1576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20959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Качественный анализ  рисков</a:t>
            </a:r>
          </a:p>
        </p:txBody>
      </p:sp>
      <p:sp>
        <p:nvSpPr>
          <p:cNvPr id="3" name="Прямоугольник 24"/>
          <p:cNvSpPr>
            <a:spLocks noChangeArrowheads="1"/>
          </p:cNvSpPr>
          <p:nvPr/>
        </p:nvSpPr>
        <p:spPr bwMode="auto">
          <a:xfrm>
            <a:off x="1846138" y="1282849"/>
            <a:ext cx="8642350" cy="3477875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ru-RU" sz="2200" dirty="0">
                <a:cs typeface="Arial" pitchFamily="34" charset="0"/>
              </a:rPr>
              <a:t>Качественный анализ риска состоит в определении приоритета риска га основе двух параметров: вероятности его наступления и оценки влияния на проект.</a:t>
            </a:r>
          </a:p>
          <a:p>
            <a:pPr marL="342900" indent="-342900">
              <a:defRPr/>
            </a:pPr>
            <a:r>
              <a:rPr lang="ru-RU" sz="2200" dirty="0">
                <a:cs typeface="Arial" pitchFamily="34" charset="0"/>
              </a:rPr>
              <a:t>Вероятность возникновения и влияние рисков </a:t>
            </a:r>
            <a:r>
              <a:rPr lang="ru-RU" sz="2200" b="1" dirty="0">
                <a:cs typeface="Arial" pitchFamily="34" charset="0"/>
              </a:rPr>
              <a:t>могут быть описаны качественными терминами</a:t>
            </a:r>
            <a:r>
              <a:rPr lang="ru-RU" sz="2200" dirty="0">
                <a:cs typeface="Arial" pitchFamily="34" charset="0"/>
              </a:rPr>
              <a:t>, такими как очень высокие, высокие, средние, низкие и т.п.</a:t>
            </a:r>
          </a:p>
          <a:p>
            <a:pPr marL="342900" indent="-342900">
              <a:defRPr/>
            </a:pPr>
            <a:r>
              <a:rPr lang="ru-RU" sz="2200" dirty="0">
                <a:cs typeface="Arial" pitchFamily="34" charset="0"/>
              </a:rPr>
              <a:t>Обычно оценка является субъективной и требует дальнейшего уточнения. Для получения этой оценки актуален опрос экспертов.</a:t>
            </a:r>
          </a:p>
          <a:p>
            <a:pPr marL="342900" indent="-342900">
              <a:defRPr/>
            </a:pPr>
            <a:r>
              <a:rPr lang="ru-RU" sz="2200" dirty="0">
                <a:cs typeface="Arial" pitchFamily="34" charset="0"/>
              </a:rPr>
              <a:t>Для упрощения оценки обычно используется </a:t>
            </a:r>
            <a:r>
              <a:rPr lang="ru-RU" sz="2200" b="1" dirty="0">
                <a:cs typeface="Arial" pitchFamily="34" charset="0"/>
              </a:rPr>
              <a:t>матрица вероятность \ влияние.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9124"/>
            <a:ext cx="10515600" cy="9333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ru-RU" altLang="ru-RU" sz="4000" dirty="0"/>
              <a:t>Еще один результат анализа и оценки - карта риска</a:t>
            </a:r>
          </a:p>
        </p:txBody>
      </p:sp>
      <p:pic>
        <p:nvPicPr>
          <p:cNvPr id="34819" name="Picture 5" descr="&amp;kcy;&amp;acy;&amp;rcy;&amp;tcy;&amp;acy; &amp;rcy;&amp;icy;&amp;scy;&amp;kcy;&amp;acy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628776"/>
            <a:ext cx="8713787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569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Выгнутая вниз стрелка 27"/>
          <p:cNvSpPr/>
          <p:nvPr/>
        </p:nvSpPr>
        <p:spPr>
          <a:xfrm>
            <a:off x="2855640" y="5805264"/>
            <a:ext cx="6696744" cy="86409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Количественный анализ  рисков</a:t>
            </a:r>
          </a:p>
        </p:txBody>
      </p:sp>
      <p:sp>
        <p:nvSpPr>
          <p:cNvPr id="5" name="Скругленный прямоугольник 4"/>
          <p:cNvSpPr/>
          <p:nvPr/>
        </p:nvSpPr>
        <p:spPr bwMode="auto">
          <a:xfrm>
            <a:off x="1775520" y="2348880"/>
            <a:ext cx="2376264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Анализ </a:t>
            </a:r>
            <a:r>
              <a:rPr lang="ru-RU" sz="1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чувстви</a:t>
            </a: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-</a:t>
            </a:r>
          </a:p>
          <a:p>
            <a:pPr algn="ctr" eaLnBrk="1" hangingPunct="1">
              <a:defRPr/>
            </a:pPr>
            <a:r>
              <a:rPr lang="ru-RU" sz="1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тельности</a:t>
            </a:r>
            <a:endParaRPr lang="ru-RU" sz="16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sp>
        <p:nvSpPr>
          <p:cNvPr id="6" name="Прямоугольник 24"/>
          <p:cNvSpPr>
            <a:spLocks noChangeArrowheads="1"/>
          </p:cNvSpPr>
          <p:nvPr/>
        </p:nvSpPr>
        <p:spPr bwMode="auto">
          <a:xfrm>
            <a:off x="1703512" y="2996952"/>
            <a:ext cx="2448272" cy="3754874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buFontTx/>
              <a:buChar char="-"/>
              <a:defRPr/>
            </a:pPr>
            <a:r>
              <a:rPr lang="ru-RU" sz="1400" dirty="0">
                <a:cs typeface="Arial" pitchFamily="34" charset="0"/>
              </a:rPr>
              <a:t>Позволяет определить риски, имеющие наибольшее влияние на проект. Обычно анализируются интегральные показатели эффективности проекта (</a:t>
            </a:r>
            <a:r>
              <a:rPr lang="en-US" sz="1400" dirty="0">
                <a:cs typeface="Arial" pitchFamily="34" charset="0"/>
              </a:rPr>
              <a:t>NPV, IRR, ROI)</a:t>
            </a:r>
            <a:r>
              <a:rPr lang="ru-RU" sz="1400" dirty="0">
                <a:cs typeface="Arial" pitchFamily="34" charset="0"/>
              </a:rPr>
              <a:t>.  Это метод однокритериального анализа, когда рассчитывается воздействие одного из рисковых факторов на один из параметров эффективности, остальные входные параметры остаются неизменными.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V="1">
            <a:off x="9408368" y="2060848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2783632" y="2060848"/>
            <a:ext cx="66247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6132513" y="191700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 bwMode="auto">
          <a:xfrm>
            <a:off x="4655840" y="1124744"/>
            <a:ext cx="2808312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Методы  количественного анализа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6096000" y="1701106"/>
            <a:ext cx="0" cy="3603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2783632" y="2060848"/>
            <a:ext cx="0" cy="287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 bwMode="auto">
          <a:xfrm>
            <a:off x="5015880" y="2346574"/>
            <a:ext cx="2304256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Анализ дерева решений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6096000" y="1986212"/>
            <a:ext cx="0" cy="3603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4"/>
          <p:cNvSpPr>
            <a:spLocks noChangeArrowheads="1"/>
          </p:cNvSpPr>
          <p:nvPr/>
        </p:nvSpPr>
        <p:spPr bwMode="auto">
          <a:xfrm>
            <a:off x="4871864" y="2994646"/>
            <a:ext cx="2592288" cy="3754874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Построение дерева решений позволяет определить альтернативные пути реализации проекта. Разработка каждого варианта развития проекта сопровождается оценкой рисков и затрат.</a:t>
            </a: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  <a:p>
            <a:pPr marL="85725" lvl="1" indent="-85725" defTabSz="855663" fontAlgn="b">
              <a:defRPr/>
            </a:pPr>
            <a:endParaRPr lang="ru-RU" sz="1400" dirty="0">
              <a:cs typeface="Arial" pitchFamily="34" charset="0"/>
            </a:endParaRPr>
          </a:p>
        </p:txBody>
      </p:sp>
      <p:sp>
        <p:nvSpPr>
          <p:cNvPr id="23" name="Прямоугольник 24"/>
          <p:cNvSpPr>
            <a:spLocks noChangeArrowheads="1"/>
          </p:cNvSpPr>
          <p:nvPr/>
        </p:nvSpPr>
        <p:spPr bwMode="auto">
          <a:xfrm>
            <a:off x="8040216" y="2994646"/>
            <a:ext cx="2448272" cy="3754874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Подразумевает построение модели проекта, которая отражает преобразование возможных колебаний параметров задач проекта в их воздействие на весь проект. Часто моделирование осуществляется с использованием метода Монте-Карло.</a:t>
            </a:r>
          </a:p>
          <a:p>
            <a:pPr marL="85725" lvl="1" indent="-85725" defTabSz="855663" fontAlgn="b">
              <a:defRPr/>
            </a:pPr>
            <a:r>
              <a:rPr lang="ru-RU" sz="1400" dirty="0">
                <a:cs typeface="Arial" pitchFamily="34" charset="0"/>
              </a:rPr>
              <a:t>Для каждой категории рисков подбирается свой вид функции распределения на основе статистических данных или  оценок экспертов.</a:t>
            </a:r>
          </a:p>
        </p:txBody>
      </p:sp>
      <p:sp>
        <p:nvSpPr>
          <p:cNvPr id="25" name="Скругленный прямоугольник 24"/>
          <p:cNvSpPr/>
          <p:nvPr/>
        </p:nvSpPr>
        <p:spPr bwMode="auto">
          <a:xfrm>
            <a:off x="8040216" y="2348880"/>
            <a:ext cx="2376264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Моделирование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126650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Количественный анализ  рисков</a:t>
            </a:r>
          </a:p>
        </p:txBody>
      </p:sp>
      <p:sp>
        <p:nvSpPr>
          <p:cNvPr id="3" name="Прямоугольник 24"/>
          <p:cNvSpPr>
            <a:spLocks noChangeArrowheads="1"/>
          </p:cNvSpPr>
          <p:nvPr/>
        </p:nvSpPr>
        <p:spPr bwMode="auto">
          <a:xfrm>
            <a:off x="1559496" y="823353"/>
            <a:ext cx="9289032" cy="6499215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defRPr/>
            </a:pPr>
            <a:r>
              <a:rPr lang="ru-RU" sz="2400" b="1" dirty="0">
                <a:cs typeface="Arial" pitchFamily="34" charset="0"/>
              </a:rPr>
              <a:t>Количественный анализ рисков </a:t>
            </a:r>
            <a:r>
              <a:rPr lang="ru-RU" sz="2400" dirty="0">
                <a:cs typeface="Arial" pitchFamily="34" charset="0"/>
              </a:rPr>
              <a:t>позволяет определить числовое выражение вероятности возникновения рисков и их влияния на проект, а также меру риска всего проекта.  Процесс количественного анализа осуществляется с целью определения: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r>
              <a:rPr lang="ru-RU" sz="2400" dirty="0">
                <a:cs typeface="Arial" pitchFamily="34" charset="0"/>
              </a:rPr>
              <a:t>Вероятности достижения целей проекта;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r>
              <a:rPr lang="ru-RU" sz="2400" dirty="0">
                <a:cs typeface="Arial" pitchFamily="34" charset="0"/>
              </a:rPr>
              <a:t>Степени воздействия риска на проект, объема необходимых резервов;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r>
              <a:rPr lang="ru-RU" sz="2400" dirty="0">
                <a:cs typeface="Arial" pitchFamily="34" charset="0"/>
              </a:rPr>
              <a:t>Реалистичных затрат и сроков окончания проекта. </a:t>
            </a:r>
          </a:p>
          <a:p>
            <a:pPr indent="-342900">
              <a:spcBef>
                <a:spcPts val="1000"/>
              </a:spcBef>
              <a:defRPr/>
            </a:pPr>
            <a:r>
              <a:rPr lang="ru-RU" sz="2400" b="1" dirty="0">
                <a:cs typeface="Arial" pitchFamily="34" charset="0"/>
              </a:rPr>
              <a:t>Результаты количественного анализа: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r>
              <a:rPr lang="ru-RU" sz="2400" dirty="0">
                <a:cs typeface="Arial" pitchFamily="34" charset="0"/>
              </a:rPr>
              <a:t>Обновление реестра рисков (пересмотр или уточнение приоритетов некоторых рисков);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r>
              <a:rPr lang="ru-RU" sz="2400" dirty="0">
                <a:cs typeface="Arial" pitchFamily="34" charset="0"/>
              </a:rPr>
              <a:t>Вероятностные оценки параметров проекта. Включают в себя в первую очередь вероятность достижения плановых сроков и выполнения бюджета проекта.</a:t>
            </a:r>
          </a:p>
          <a:p>
            <a:pPr marL="720000" indent="-342900">
              <a:buFont typeface="Arial" pitchFamily="34" charset="0"/>
              <a:buChar char="•"/>
              <a:defRPr/>
            </a:pPr>
            <a:endParaRPr lang="ru-RU" sz="2400" dirty="0">
              <a:cs typeface="Arial" pitchFamily="34" charset="0"/>
            </a:endParaRPr>
          </a:p>
          <a:p>
            <a:pPr marL="342900" indent="-342900">
              <a:defRPr/>
            </a:pPr>
            <a:r>
              <a:rPr lang="ru-RU" sz="2400" dirty="0">
                <a:cs typeface="Arial" pitchFamily="34" charset="0"/>
              </a:rPr>
              <a:t>.</a:t>
            </a:r>
          </a:p>
          <a:p>
            <a:pPr marL="342900" indent="-342900">
              <a:defRPr/>
            </a:pPr>
            <a:r>
              <a:rPr lang="en-US" sz="2400" dirty="0"/>
              <a:t> </a:t>
            </a:r>
            <a:endParaRPr lang="ru-RU" sz="2400" b="1" dirty="0"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Риск – событие. Формулировка должна быть конкретная и однозначная. Например, погодные условия.</a:t>
            </a:r>
          </a:p>
          <a:p>
            <a:r>
              <a:rPr lang="ru-RU" dirty="0"/>
              <a:t>Последствия наступления риска – что будет плохого.</a:t>
            </a:r>
          </a:p>
          <a:p>
            <a:r>
              <a:rPr lang="ru-RU" dirty="0"/>
              <a:t>Анализ и управление рисками проекта.</a:t>
            </a:r>
          </a:p>
          <a:p>
            <a:r>
              <a:rPr lang="ru-RU" dirty="0"/>
              <a:t>Меры по минимизации  - действия, если событие уже произошло.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177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2279650" y="188913"/>
            <a:ext cx="7772400" cy="6477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ru-RU" b="1" kern="1200" dirty="0">
                <a:solidFill>
                  <a:schemeClr val="tx2"/>
                </a:solidFill>
              </a:rPr>
              <a:t>Методы реагирования на негативные риски</a:t>
            </a:r>
          </a:p>
        </p:txBody>
      </p:sp>
      <p:sp>
        <p:nvSpPr>
          <p:cNvPr id="14344" name="Прямоугольник 24"/>
          <p:cNvSpPr>
            <a:spLocks noChangeArrowheads="1"/>
          </p:cNvSpPr>
          <p:nvPr/>
        </p:nvSpPr>
        <p:spPr bwMode="auto">
          <a:xfrm>
            <a:off x="1846138" y="1282849"/>
            <a:ext cx="8642350" cy="4524315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ru-RU" sz="2400" dirty="0">
                <a:cs typeface="Arial" pitchFamily="34" charset="0"/>
              </a:rPr>
              <a:t>Четыре метода реагирования на негативные риски: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400" b="1" dirty="0"/>
              <a:t>Уклонение от риска </a:t>
            </a:r>
            <a:r>
              <a:rPr lang="ru-RU" sz="2400" dirty="0"/>
              <a:t>(</a:t>
            </a:r>
            <a:r>
              <a:rPr lang="ru-RU" sz="2400" dirty="0" err="1"/>
              <a:t>risk</a:t>
            </a:r>
            <a:r>
              <a:rPr lang="ru-RU" sz="2400" dirty="0"/>
              <a:t> </a:t>
            </a:r>
            <a:r>
              <a:rPr lang="ru-RU" sz="2400" dirty="0" err="1"/>
              <a:t>avoidance</a:t>
            </a:r>
            <a:r>
              <a:rPr lang="ru-RU" sz="2400" dirty="0"/>
              <a:t>) – изменение плана проекта таким образом, чтобы исключить угрозу.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400" b="1" dirty="0"/>
              <a:t>Передача риска </a:t>
            </a:r>
            <a:r>
              <a:rPr lang="ru-RU" sz="2400" dirty="0"/>
              <a:t>(</a:t>
            </a:r>
            <a:r>
              <a:rPr lang="ru-RU" sz="2400" dirty="0" err="1"/>
              <a:t>risk</a:t>
            </a:r>
            <a:r>
              <a:rPr lang="ru-RU" sz="2400" dirty="0"/>
              <a:t> </a:t>
            </a:r>
            <a:r>
              <a:rPr lang="ru-RU" sz="2400" dirty="0" err="1"/>
              <a:t>transference</a:t>
            </a:r>
            <a:r>
              <a:rPr lang="ru-RU" sz="2400" dirty="0"/>
              <a:t>) – переложение негативных последствий угрозы на третью сторону.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400" b="1" dirty="0"/>
              <a:t>Снижение рисков </a:t>
            </a:r>
            <a:r>
              <a:rPr lang="ru-RU" sz="2400" dirty="0"/>
              <a:t>(</a:t>
            </a:r>
            <a:r>
              <a:rPr lang="ru-RU" sz="2400" dirty="0" err="1"/>
              <a:t>risk</a:t>
            </a:r>
            <a:r>
              <a:rPr lang="ru-RU" sz="2400" dirty="0"/>
              <a:t> </a:t>
            </a:r>
            <a:r>
              <a:rPr lang="ru-RU" sz="2400" dirty="0" err="1"/>
              <a:t>mitigation</a:t>
            </a:r>
            <a:r>
              <a:rPr lang="ru-RU" sz="2400" dirty="0"/>
              <a:t>) -  понижение вероятности и/или последствий негативного рискованного события до приемлемых пределов. 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400" b="1" dirty="0"/>
              <a:t>Принятие риска </a:t>
            </a:r>
            <a:r>
              <a:rPr lang="ru-RU" sz="2400" dirty="0"/>
              <a:t>(</a:t>
            </a:r>
            <a:r>
              <a:rPr lang="ru-RU" sz="2400" dirty="0" err="1"/>
              <a:t>risk</a:t>
            </a:r>
            <a:r>
              <a:rPr lang="ru-RU" sz="2400" dirty="0"/>
              <a:t> </a:t>
            </a:r>
            <a:r>
              <a:rPr lang="ru-RU" sz="2400" dirty="0" err="1"/>
              <a:t>acceptance</a:t>
            </a:r>
            <a:r>
              <a:rPr lang="ru-RU" sz="2400" dirty="0"/>
              <a:t>) - что команда проекта осознанно приняла решение не изменять план управления проектом в связи с риском или не нашла подходящей стратегии реагирования. Это пассивный метод.</a:t>
            </a:r>
          </a:p>
        </p:txBody>
      </p:sp>
      <p:graphicFrame>
        <p:nvGraphicFramePr>
          <p:cNvPr id="18" name="Схема 17"/>
          <p:cNvGraphicFramePr/>
          <p:nvPr/>
        </p:nvGraphicFramePr>
        <p:xfrm>
          <a:off x="7968208" y="1484784"/>
          <a:ext cx="2448272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4294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ru-RU" altLang="ru-RU" sz="4000"/>
              <a:t>Четыре основных метода реагирования на риски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5068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ru-RU" altLang="ru-RU" sz="2400" b="1" dirty="0"/>
              <a:t>Уклонение.</a:t>
            </a:r>
            <a:r>
              <a:rPr lang="ru-RU" altLang="ru-RU" sz="2400" dirty="0"/>
              <a:t> Полное устранение источников риска. Это наиболее активный метод реагирования. Его не всегда возможно применить. Допускается он, когда удается полностью исключить источник риска, например, если источник риска связан с отсутствием какой-либо информации. Проект-менеджер обязан необходимую информацию получить любым доступным способом: собрать, купить и т.д. Не совсем правильным решением является, когда избежание связано с отказом от каких-то отдельных элементов проекта, что является пассивным нерациональным действием. </a:t>
            </a:r>
            <a:endParaRPr lang="ru-RU" altLang="ru-RU" sz="2400" dirty="0">
              <a:latin typeface="Arial" panose="020B0604020202020204" pitchFamily="34" charset="0"/>
            </a:endParaRPr>
          </a:p>
          <a:p>
            <a:pPr marL="533400" indent="-533400">
              <a:buNone/>
            </a:pPr>
            <a:r>
              <a:rPr lang="ru-RU" altLang="ru-RU" sz="2400" b="1" dirty="0"/>
              <a:t>Пример.</a:t>
            </a:r>
            <a:r>
              <a:rPr lang="ru-RU" altLang="ru-RU" sz="2400" dirty="0">
                <a:latin typeface="Arial" panose="020B0604020202020204" pitchFamily="34" charset="0"/>
              </a:rPr>
              <a:t> </a:t>
            </a:r>
            <a:r>
              <a:rPr lang="ru-RU" altLang="ru-RU" sz="2400" dirty="0"/>
              <a:t>Риск сбоя старой информационной системы может быть устранен установкой принципиально нового программного продукта. </a:t>
            </a:r>
          </a:p>
        </p:txBody>
      </p:sp>
    </p:spTree>
    <p:extLst>
      <p:ext uri="{BB962C8B-B14F-4D97-AF65-F5344CB8AC3E}">
        <p14:creationId xmlns:p14="http://schemas.microsoft.com/office/powerpoint/2010/main" val="2573223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50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ru-RU" altLang="ru-RU" sz="4000"/>
              <a:t>Четыре основных метода реагирования на риски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268414"/>
            <a:ext cx="9144000" cy="558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/>
              <a:t>2. </a:t>
            </a:r>
            <a:r>
              <a:rPr lang="ru-RU" altLang="ru-RU" sz="2600" b="1"/>
              <a:t>Минимизация.</a:t>
            </a:r>
            <a:r>
              <a:rPr lang="ru-RU" altLang="ru-RU" sz="2600"/>
              <a:t> Уменьшение вероятности и снижение опасности риска. Это второй активный способ реагирования. Виды рисков, для которых применяется данный метод, должны быть полностью контролируемы. Обычно это внешние риски.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 b="1"/>
              <a:t>Примеры.</a:t>
            </a:r>
            <a:r>
              <a:rPr lang="ru-RU" altLang="ru-RU" sz="2600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/>
              <a:t>- физическая защита (например, организация охраны объекта, автоматические системы пожаротушения);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/>
              <a:t>- организационные меры (систематические проверки и надзор, разработка и исполнение соответствующих инструкций);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/>
              <a:t>- обучение персонала; создание безопасных условий труда;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/>
              <a:t>- послеаварийные меры (наличие специальных служб и оборудования для ликвидации ущерба);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600"/>
              <a:t>- юридическая защита в виде договорных обязательств, поручительств, гарантий. </a:t>
            </a:r>
          </a:p>
        </p:txBody>
      </p:sp>
    </p:spTree>
    <p:extLst>
      <p:ext uri="{BB962C8B-B14F-4D97-AF65-F5344CB8AC3E}">
        <p14:creationId xmlns:p14="http://schemas.microsoft.com/office/powerpoint/2010/main" val="2162241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22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ru-RU" altLang="ru-RU" sz="4000"/>
              <a:t>Четыре основных метода реагирования на риски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600200"/>
            <a:ext cx="9144000" cy="5068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ru-RU" altLang="ru-RU"/>
              <a:t>3. </a:t>
            </a:r>
            <a:r>
              <a:rPr lang="ru-RU" altLang="ru-RU" b="1"/>
              <a:t>Передача-страхование.</a:t>
            </a:r>
            <a:r>
              <a:rPr lang="ru-RU" altLang="ru-RU"/>
              <a:t> Предполагается нахождение третьей стороны, готовой принять риск и его негативные последствия на себя. В данном методе лучшие условия получает тот, у кого сильнее переговорная позиция (монопольная позиция на проекте). </a:t>
            </a:r>
          </a:p>
          <a:p>
            <a:pPr>
              <a:buFontTx/>
              <a:buNone/>
            </a:pPr>
            <a:r>
              <a:rPr lang="ru-RU" altLang="ru-RU"/>
              <a:t>Пример. Страхование объекта и, соответственно, передача риска страховой компании; включение ответственности за риск в контракт с подрядчиком (при соответственном удорожании контракта); фиксирование цены контракта, ценообразование в твердой валюте и т.п. </a:t>
            </a:r>
          </a:p>
          <a:p>
            <a:pPr>
              <a:buFontTx/>
              <a:buNone/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3755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22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ru-RU" altLang="ru-RU" sz="4000"/>
              <a:t>Четыре основных метода реагирования на риски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412876"/>
            <a:ext cx="9144000" cy="544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609600" indent="-609600">
              <a:buNone/>
            </a:pPr>
            <a:r>
              <a:rPr lang="ru-RU" altLang="ru-RU" dirty="0"/>
              <a:t>4. </a:t>
            </a:r>
            <a:r>
              <a:rPr lang="ru-RU" altLang="ru-RU" b="1" dirty="0"/>
              <a:t>Принятие или сохранение всей ответственности за риск и способность покрыть все возможные убытки.</a:t>
            </a:r>
            <a:r>
              <a:rPr lang="ru-RU" altLang="ru-RU" dirty="0"/>
              <a:t> Предполагается осознанная готовность к риску. Все усилия направляются на устранение последствий. </a:t>
            </a:r>
          </a:p>
          <a:p>
            <a:pPr marL="609600" indent="-609600">
              <a:buNone/>
            </a:pPr>
            <a:r>
              <a:rPr lang="ru-RU" altLang="ru-RU" dirty="0"/>
              <a:t>Выражается в формировании дополнительного бюджета проекта или наличии воз­можности у куратора проекта в «выбивании» лишнего финансирования в нужный момент. Здесь может использоваться и самострахование в виде общего резерва на покрытие рисков в портфеле проекта. Удержание - это излюбленный метод реагирования на риски.</a:t>
            </a:r>
          </a:p>
        </p:txBody>
      </p:sp>
    </p:spTree>
    <p:extLst>
      <p:ext uri="{BB962C8B-B14F-4D97-AF65-F5344CB8AC3E}">
        <p14:creationId xmlns:p14="http://schemas.microsoft.com/office/powerpoint/2010/main" val="1295053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548680"/>
            <a:ext cx="8507288" cy="6048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В качестве основных мероприятий, направленных на избежание возникновения этих рисковых ситуаций в ИТ–проектах, являются: </a:t>
            </a:r>
          </a:p>
          <a:p>
            <a:pPr lvl="0"/>
            <a:r>
              <a:rPr lang="ru-RU" dirty="0"/>
              <a:t>Обязательное </a:t>
            </a:r>
            <a:r>
              <a:rPr lang="ru-RU" b="1" dirty="0"/>
              <a:t>документирование</a:t>
            </a:r>
            <a:r>
              <a:rPr lang="ru-RU" dirty="0"/>
              <a:t> целей проекта, а также </a:t>
            </a:r>
            <a:r>
              <a:rPr lang="ru-RU" b="1" dirty="0"/>
              <a:t>всех изменений</a:t>
            </a:r>
            <a:r>
              <a:rPr lang="ru-RU" dirty="0"/>
              <a:t> в документации проекта, возникающих при его реализации </a:t>
            </a:r>
          </a:p>
          <a:p>
            <a:pPr lvl="0"/>
            <a:r>
              <a:rPr lang="ru-RU" dirty="0"/>
              <a:t>Повышение мотивации рядовых сотрудников путем материального стимулирования </a:t>
            </a:r>
          </a:p>
          <a:p>
            <a:pPr lvl="0"/>
            <a:r>
              <a:rPr lang="ru-RU" dirty="0"/>
              <a:t>Привлечение сторонних квалифицированных специалистов </a:t>
            </a:r>
          </a:p>
          <a:p>
            <a:pPr lvl="0"/>
            <a:r>
              <a:rPr lang="ru-RU" dirty="0"/>
              <a:t>Обучение членов команды и топ–менеджмента методологии управления проектами.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766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Схема 17"/>
          <p:cNvGraphicFramePr/>
          <p:nvPr/>
        </p:nvGraphicFramePr>
        <p:xfrm>
          <a:off x="7968208" y="1484784"/>
          <a:ext cx="2448272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Заголовок 1"/>
          <p:cNvSpPr txBox="1">
            <a:spLocks/>
          </p:cNvSpPr>
          <p:nvPr/>
        </p:nvSpPr>
        <p:spPr bwMode="auto">
          <a:xfrm>
            <a:off x="1524000" y="188913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2"/>
                </a:solidFill>
              </a:rPr>
              <a:t>Стратегия выбора мер реагирования</a:t>
            </a:r>
          </a:p>
        </p:txBody>
      </p:sp>
      <p:sp>
        <p:nvSpPr>
          <p:cNvPr id="5" name="Прямоугольник 24"/>
          <p:cNvSpPr>
            <a:spLocks noChangeArrowheads="1"/>
          </p:cNvSpPr>
          <p:nvPr/>
        </p:nvSpPr>
        <p:spPr bwMode="auto">
          <a:xfrm>
            <a:off x="1846138" y="1282849"/>
            <a:ext cx="8642350" cy="3606115"/>
          </a:xfrm>
          <a:prstGeom prst="rect">
            <a:avLst/>
          </a:prstGeom>
          <a:noFill/>
          <a:ln w="9525">
            <a:noFill/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ru-RU" sz="2200" dirty="0">
                <a:cs typeface="Arial" pitchFamily="34" charset="0"/>
              </a:rPr>
              <a:t>Решение об осуществлении или отказе от </a:t>
            </a:r>
            <a:r>
              <a:rPr lang="ru-RU" sz="2200" dirty="0" err="1">
                <a:cs typeface="Arial" pitchFamily="34" charset="0"/>
              </a:rPr>
              <a:t>противорисковых</a:t>
            </a:r>
            <a:r>
              <a:rPr lang="ru-RU" sz="2200" dirty="0">
                <a:cs typeface="Arial" pitchFamily="34" charset="0"/>
              </a:rPr>
              <a:t> мероприятий определяется на основе следующего алгоритма: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200" dirty="0"/>
              <a:t>Анализ начинается с самого значимого риска. 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200" dirty="0"/>
              <a:t>Определяются </a:t>
            </a:r>
            <a:r>
              <a:rPr lang="ru-RU" sz="2200" b="1" dirty="0"/>
              <a:t>потери</a:t>
            </a:r>
            <a:r>
              <a:rPr lang="ru-RU" sz="2200" dirty="0"/>
              <a:t> с учетом вероятности наступления неблагоприятного события.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200" dirty="0"/>
              <a:t>Определяются </a:t>
            </a:r>
            <a:r>
              <a:rPr lang="ru-RU" sz="2200" b="1" dirty="0"/>
              <a:t>затраты</a:t>
            </a:r>
            <a:r>
              <a:rPr lang="ru-RU" sz="2200" dirty="0"/>
              <a:t> на </a:t>
            </a:r>
            <a:r>
              <a:rPr lang="ru-RU" sz="2200" dirty="0" err="1"/>
              <a:t>противорисковые</a:t>
            </a:r>
            <a:r>
              <a:rPr lang="ru-RU" sz="2200" dirty="0"/>
              <a:t> мероприятия.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200" dirty="0"/>
              <a:t>Сравниваются требуемые затраты и возможные потери.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sz="2200" dirty="0"/>
              <a:t>Процесс повторяется для следующего по значимости риска.</a:t>
            </a:r>
          </a:p>
          <a:p>
            <a:pPr marL="457200" indent="-457200">
              <a:spcBef>
                <a:spcPts val="1000"/>
              </a:spcBef>
              <a:defRPr/>
            </a:pPr>
            <a:r>
              <a:rPr lang="ru-RU" sz="2200" dirty="0"/>
              <a:t>Для возможностей оценивается прибыль в случае наступления события и затраты на реализацию возможности.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1612</Words>
  <Application>Microsoft Office PowerPoint</Application>
  <PresentationFormat>Широкоэкранный</PresentationFormat>
  <Paragraphs>177</Paragraphs>
  <Slides>30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Seravek</vt:lpstr>
      <vt:lpstr>Office Theme</vt:lpstr>
      <vt:lpstr>Управление рисками проекта</vt:lpstr>
      <vt:lpstr>Результаты успешности ИТ-проектов </vt:lpstr>
      <vt:lpstr>Презентация PowerPoint</vt:lpstr>
      <vt:lpstr>Презентация PowerPoint</vt:lpstr>
      <vt:lpstr>Презентация PowerPoint</vt:lpstr>
      <vt:lpstr>Основные характеристики рисков </vt:lpstr>
      <vt:lpstr>Барри  Боэм    Список  10  наиболее  распространенных рисков программного проекта:  </vt:lpstr>
      <vt:lpstr>Демарко  и  Листер  [1]  приводят  свой  список  из  пяти    наиболее  важных источников рисков любого проекта разработки ПО:  </vt:lpstr>
      <vt:lpstr>Управление рисками</vt:lpstr>
      <vt:lpstr>Презентация PowerPoint</vt:lpstr>
      <vt:lpstr>Презентация PowerPoint</vt:lpstr>
      <vt:lpstr>В стандарте Project Management Body of Knowledge, принятом в 2000 году, описаны шесть процедур управления рисками:</vt:lpstr>
      <vt:lpstr>Презентация PowerPoint</vt:lpstr>
      <vt:lpstr>Презентация PowerPoint</vt:lpstr>
      <vt:lpstr>Идентификация риска </vt:lpstr>
      <vt:lpstr>Идентификация рисков</vt:lpstr>
      <vt:lpstr>Идентификация рисков</vt:lpstr>
      <vt:lpstr>Оценка (анализ) риска </vt:lpstr>
      <vt:lpstr>Качественный анализ  рисков</vt:lpstr>
      <vt:lpstr>Еще один результат анализа и оценки - карта риска</vt:lpstr>
      <vt:lpstr>Количественный анализ  рисков</vt:lpstr>
      <vt:lpstr>Количественный анализ  рисков</vt:lpstr>
      <vt:lpstr>Презентация PowerPoint</vt:lpstr>
      <vt:lpstr>Методы реагирования на негативные риски</vt:lpstr>
      <vt:lpstr>Четыре основных метода реагирования на риски </vt:lpstr>
      <vt:lpstr>Четыре основных метода реагирования на риски</vt:lpstr>
      <vt:lpstr>Четыре основных метода реагирования на риски</vt:lpstr>
      <vt:lpstr>Четыре основных метода реагирования на риски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inna</cp:lastModifiedBy>
  <cp:revision>7</cp:revision>
  <dcterms:created xsi:type="dcterms:W3CDTF">2024-02-13T07:51:58Z</dcterms:created>
  <dcterms:modified xsi:type="dcterms:W3CDTF">2026-07-21T06:35:40Z</dcterms:modified>
</cp:coreProperties>
</file>