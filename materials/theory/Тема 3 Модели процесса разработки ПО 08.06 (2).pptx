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71" r:id="rId3"/>
    <p:sldId id="332" r:id="rId4"/>
    <p:sldId id="352" r:id="rId5"/>
    <p:sldId id="275" r:id="rId6"/>
    <p:sldId id="333" r:id="rId7"/>
    <p:sldId id="267" r:id="rId8"/>
    <p:sldId id="353" r:id="rId9"/>
    <p:sldId id="346" r:id="rId10"/>
    <p:sldId id="345" r:id="rId11"/>
    <p:sldId id="280" r:id="rId12"/>
    <p:sldId id="351" r:id="rId13"/>
    <p:sldId id="348" r:id="rId14"/>
    <p:sldId id="349" r:id="rId15"/>
    <p:sldId id="281" r:id="rId16"/>
    <p:sldId id="355" r:id="rId17"/>
    <p:sldId id="358" r:id="rId18"/>
    <p:sldId id="284" r:id="rId19"/>
    <p:sldId id="265" r:id="rId20"/>
    <p:sldId id="276" r:id="rId21"/>
    <p:sldId id="359" r:id="rId22"/>
    <p:sldId id="360" r:id="rId23"/>
    <p:sldId id="335" r:id="rId24"/>
    <p:sldId id="336" r:id="rId25"/>
    <p:sldId id="337" r:id="rId26"/>
    <p:sldId id="338" r:id="rId27"/>
    <p:sldId id="339" r:id="rId28"/>
    <p:sldId id="340" r:id="rId29"/>
    <p:sldId id="312" r:id="rId30"/>
    <p:sldId id="315" r:id="rId31"/>
    <p:sldId id="287" r:id="rId32"/>
    <p:sldId id="316" r:id="rId33"/>
    <p:sldId id="313" r:id="rId34"/>
    <p:sldId id="326" r:id="rId35"/>
    <p:sldId id="361" r:id="rId3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76EF6-1FEC-4DB8-9102-D2F8BB8DB350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22A00-C5CB-4EBF-8DCA-55DA9F9011B2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6%D0%B8%D0%B7%D0%BD%D0%B5%D0%BD%D0%BD%D1%8B%D0%B9_%D1%86%D0%B8%D0%BA%D0%BB_%D0%BF%D1%80%D0%BE%D0%B3%D1%80%D0%B0%D0%BC%D0%BC%D0%BD%D0%BE%D0%B3%D0%BE_%D0%BE%D0%B1%D0%B5%D1%81%D0%BF%D0%B5%D1%87%D0%B5%D0%BD%D0%B8%D1%8F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ru.wikipedia.org/wiki/%D0%AD%D0%BA%D1%81%D1%82%D1%80%D0%B5%D0%BC%D0%B0%D0%BB%D1%8C%D0%BD%D0%BE%D0%B5_%D0%BF%D1%80%D0%BE%D0%B3%D1%80%D0%B0%D0%BC%D0%BC%D0%B8%D1%80%D0%BE%D0%B2%D0%B0%D0%BD%D0%B8%D0%B5" TargetMode="External"/><Relationship Id="rId5" Type="http://schemas.openxmlformats.org/officeDocument/2006/relationships/hyperlink" Target="http://ru.wikipedia.org/wiki/Microsoft_Solutions_Framework" TargetMode="External"/><Relationship Id="rId4" Type="http://schemas.openxmlformats.org/officeDocument/2006/relationships/hyperlink" Target="http://ru.wikipedia.org/wiki/Rational_Unified_Process" TargetMode="External"/></Relationships>
</file>

<file path=ppt/notesSlides/_rels/notes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Rugby_football" TargetMode="External"/><Relationship Id="rId13" Type="http://schemas.openxmlformats.org/officeDocument/2006/relationships/hyperlink" Target="http://en.wikipedia.org/wiki/OOPSLA" TargetMode="External"/><Relationship Id="rId18" Type="http://schemas.openxmlformats.org/officeDocument/2006/relationships/hyperlink" Target="http://ru.wikipedia.org/w/index.php?title=%D0%98%D0%BA%D1%83%D0%B4%D0%B7%D0%B8%D1%80%D0%BE_%D0%9D%D0%BE%D0%BD%D0%B0%D0%BA%D0%B0&amp;action=edit&amp;redlink=1" TargetMode="External"/><Relationship Id="rId26" Type="http://schemas.openxmlformats.org/officeDocument/2006/relationships/hyperlink" Target="http://ru.wikipedia.org/wiki/2001_%D0%B3%D0%BE%D0%B4" TargetMode="External"/><Relationship Id="rId3" Type="http://schemas.openxmlformats.org/officeDocument/2006/relationships/hyperlink" Target="http://ru.wikipedia.org/wiki/%D0%93%D0%B8%D0%B1%D0%BA%D0%B0%D1%8F_%D0%BC%D0%B5%D1%82%D0%BE%D0%B4%D0%BE%D0%BB%D0%BE%D0%B3%D0%B8%D1%8F_%D1%80%D0%B0%D0%B7%D1%80%D0%B0%D0%B1%D0%BE%D1%82%D0%BA%D0%B8" TargetMode="External"/><Relationship Id="rId21" Type="http://schemas.openxmlformats.org/officeDocument/2006/relationships/hyperlink" Target="http://ru.wikipedia.org/wiki/1990-%D0%B5" TargetMode="External"/><Relationship Id="rId7" Type="http://schemas.openxmlformats.org/officeDocument/2006/relationships/hyperlink" Target="http://en.wikipedia.org/wiki/Holistic" TargetMode="External"/><Relationship Id="rId12" Type="http://schemas.openxmlformats.org/officeDocument/2006/relationships/hyperlink" Target="http://en.wikipedia.org/wiki/Scrum_(development)" TargetMode="External"/><Relationship Id="rId17" Type="http://schemas.openxmlformats.org/officeDocument/2006/relationships/hyperlink" Target="http://ru.wikipedia.org/wiki/Scrum" TargetMode="External"/><Relationship Id="rId25" Type="http://schemas.openxmlformats.org/officeDocument/2006/relationships/hyperlink" Target="http://ru.wikipedia.org/w/index.php?title=%D0%9C%D0%B0%D0%B9%D0%BA%D0%BE%D0%BC_%D0%91%D0%B8%D0%B4%D0%BB%D0%BE%D0%BC&amp;action=edit&amp;redlink=1" TargetMode="External"/><Relationship Id="rId2" Type="http://schemas.openxmlformats.org/officeDocument/2006/relationships/slide" Target="../slides/slide29.xml"/><Relationship Id="rId16" Type="http://schemas.openxmlformats.org/officeDocument/2006/relationships/hyperlink" Target="http://ru.wikipedia.org/w/index.php?title=%D0%A5%D0%B8%D1%80%D0%BE%D1%82%D0%B0%D0%BA%D0%B0_%D0%A2%D0%B0%D0%BA%D0%B5%D1%83%D1%82%D0%B8&amp;action=edit&amp;redlink=1" TargetMode="External"/><Relationship Id="rId20" Type="http://schemas.openxmlformats.org/officeDocument/2006/relationships/hyperlink" Target="http://ru.wikipedia.org/w/index.php?title=%D0%9A%D0%B5%D0%BD_%D0%A8%D0%B2%D0%B0%D0%B1%D0%B5%D1%80&amp;action=edit&amp;redlink=1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New_product_development" TargetMode="External"/><Relationship Id="rId11" Type="http://schemas.openxmlformats.org/officeDocument/2006/relationships/hyperlink" Target="http://en.wikipedia.org/wiki/Jeff_Sutherland" TargetMode="External"/><Relationship Id="rId24" Type="http://schemas.openxmlformats.org/officeDocument/2006/relationships/hyperlink" Target="http://ru.wikipedia.org/wiki/%D0%9E%D1%81%D1%82%D0%B8%D0%BD_(%D0%A2%D0%B5%D1%85%D0%B0%D1%81)" TargetMode="External"/><Relationship Id="rId5" Type="http://schemas.openxmlformats.org/officeDocument/2006/relationships/hyperlink" Target="http://en.wikipedia.org/wiki/Ikujiro_Nonaka" TargetMode="External"/><Relationship Id="rId15" Type="http://schemas.openxmlformats.org/officeDocument/2006/relationships/hyperlink" Target="http://en.wikipedia.org/wiki/Acronym" TargetMode="External"/><Relationship Id="rId23" Type="http://schemas.openxmlformats.org/officeDocument/2006/relationships/hyperlink" Target="http://ru.wikipedia.org/w/index.php?title=OOPSLA&amp;action=edit&amp;redlink=1" TargetMode="External"/><Relationship Id="rId10" Type="http://schemas.openxmlformats.org/officeDocument/2006/relationships/hyperlink" Target="http://en.wikipedia.org/wiki/Ken_Schwaber" TargetMode="External"/><Relationship Id="rId19" Type="http://schemas.openxmlformats.org/officeDocument/2006/relationships/hyperlink" Target="http://ru.wikipedia.org/wiki/1991_%D0%B3%D0%BE%D0%B4" TargetMode="External"/><Relationship Id="rId4" Type="http://schemas.openxmlformats.org/officeDocument/2006/relationships/hyperlink" Target="http://en.wikipedia.org/wiki/Hirotaka_Takeuchi" TargetMode="External"/><Relationship Id="rId9" Type="http://schemas.openxmlformats.org/officeDocument/2006/relationships/hyperlink" Target="http://en.wikipedia.org/wiki/Scrum_(rugby)" TargetMode="External"/><Relationship Id="rId14" Type="http://schemas.openxmlformats.org/officeDocument/2006/relationships/hyperlink" Target="http://en.wikipedia.org/w/index.php?title=Mike_Beedle&amp;action=edit&amp;redlink=1" TargetMode="External"/><Relationship Id="rId22" Type="http://schemas.openxmlformats.org/officeDocument/2006/relationships/hyperlink" Target="http://ru.wikipedia.org/w/index.php?title=%D0%94%D0%B6%D0%B5%D1%84_%D0%A1%D0%B0%D0%B7%D0%B5%D1%80%D0%BB%D0%B5%D0%BD%D0%B4&amp;action=edit&amp;redlink=1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222A00-C5CB-4EBF-8DCA-55DA9F9011B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930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3FAD2-BB43-4743-ADCC-660877EE51E5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3FAD2-BB43-4743-ADCC-660877EE51E5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Prototyping</a:t>
            </a:r>
            <a:r>
              <a:rPr lang="ru-RU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goal of a prototyping-based development process is to counter the first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limitation of the waterfall model. 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basic idea here is that instead of freezing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requirements before any design or coding can proceed, 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throwaway prototype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built to help understand the requirements. 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prototype is developed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based on the currently known requirements. 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 of the prototype obviously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undergoes design, coding, and testing, but each of these phases is not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 very formally or thoroughly. 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using this prototype, the client can get an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actual feel of the system, which can enable the client to better understand the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 of the desired system. 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results in more stable requirements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change less frequently.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EA7333-40CC-4488-984A-3D4A33D1DCF2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buFont typeface="+mj-lt"/>
              <a:buNone/>
            </a:pP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(3. </a:t>
            </a:r>
            <a:r>
              <a:rPr lang="ru-RU" dirty="0"/>
              <a:t>Вызывает подход «большого взрыва» - полное ПО предоставляется за один раз, в конце разработки.</a:t>
            </a:r>
          </a:p>
          <a:p>
            <a:pPr marL="514350" indent="-514350">
              <a:buFont typeface="+mj-lt"/>
              <a:buNone/>
            </a:pPr>
            <a:r>
              <a:rPr lang="ru-RU" dirty="0"/>
              <a:t>4. Поощряется «раздувание требований». 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Основная идея данного подхода заключается в том, что ПО должно разрабатываться пошагово (постепенно, итеративно, </a:t>
            </a:r>
            <a:r>
              <a:rPr lang="ru-RU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инкрементально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на каждом шаге к создаваемой ПС должны добавляться некоторые функциональные возможности, до тех пор, пока система не будет реализована полностью.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basic idea is that the software should be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developed in increments, each increment adding some functional capability to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system until the full system is implemented.</a:t>
            </a: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Итеративная модель улучшения является примером данного подхода.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iterative enhancement model [4] is an example of this approach. 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первом шаге данной модели создается простое начальное приложение, реализующее подмножество задач полного решения проблемы.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 step of this model, a simple initial implementation is done for a subset of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overall problem. 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Данное подмножество должно включать некоторые из основных задач рассматриваемой проблемы, которые легко понять и реализовать, и которые формируют полезную и простую в применении систему.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subset is one that contains some of the key aspects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problem that are easy to understand and implement and which form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useful and usable system. 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================================</a:t>
            </a: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Итерационная модель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Альтернативой последовательной модели является так называемая модель итеративной и инкрементальной разработки (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iterative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incremental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IID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получившей также от Т.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Гилба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70-е гг. название 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эволюционной модели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Также эту модель называют 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итеративной моделью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и 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инкрементальной моделью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[4]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Модель IID предполагает разбиение жизненного цикла проекта на последовательность итераций, каждая из которых напоминает «мини-проект», включая все процессы разработки в применении к созданию меньших фрагментов функциональности, по сравнению с проектом в целом. 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Цель каждой 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итерации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— получение работающей версии программной системы, включающей функциональность, определённую интегрированным содержанием всех предыдущих и текущей итерации.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Результат финальной итерации содержит всю требуемую функциональность продукта. 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Таким образом, с завершением каждой итерации продукт получает приращение — 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инкремент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— к его возможностям, которые, следовательно, развиваются 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эволюционно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Итеративность,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инкрементальность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эволюционность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данном случае есть выражение одного и то же смысла разными словами со слегка разных точек зрения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[3]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 выражению Т.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Гилба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«эволюция — прием, предназначенный для создания видимости стабильности. 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Шансы успешного создания сложной системы будут максимальными, </a:t>
            </a:r>
          </a:p>
          <a:p>
            <a:pPr>
              <a:buFont typeface="Arial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она реализуется в серии небольших шагов и </a:t>
            </a:r>
          </a:p>
          <a:p>
            <a:pPr>
              <a:buFont typeface="Arial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каждый шаг заключает в себе четко определённый успех, а также </a:t>
            </a:r>
          </a:p>
          <a:p>
            <a:pPr>
              <a:buFont typeface="Arial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</a:t>
            </a:r>
            <a:r>
              <a:rPr lang="ru-RU" sz="12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есть 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возможность «отката» к предыдущему успешному этапу в случае неудачи. 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Перед тем, как пустить в дело все ресурсы, предназначенные для создания системы,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разработчик имеет возможность получать из реального мира сигналы обратной связи и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исправлять возможные ошибки в проекте».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Различные варианты итерационного подхода реализованы в большинстве современных методологий разработки (</a:t>
            </a:r>
            <a:r>
              <a:rPr lang="ru-RU" sz="1200" b="0" i="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Rational Unified Process"/>
              </a:rPr>
              <a:t>RUP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Microsoft Solutions Framework"/>
              </a:rPr>
              <a:t>MSF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 tooltip="Экстремальное программирование"/>
              </a:rPr>
              <a:t>XP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EA7333-40CC-4488-984A-3D4A33D1DCF2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 (</a:t>
            </a:r>
            <a:r>
              <a:rPr lang="ru-RU" sz="1200" b="1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Agile</a:t>
            </a:r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 такое </a:t>
            </a:r>
            <a:r>
              <a:rPr lang="ru-RU" sz="1200" b="1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предоставляет эмпирический подход к разработке ПО.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Этот процесс быстр, адаптивен, умеет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самонастриваться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отличен от последовательного (водопадного) подхода. 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основан на повторяющихся циклах, это делает его более гибким и предсказуемым.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основе лежат короткие ежедневные встречи —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циклические 30-дневные встречи, называемые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Sprint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 время ежедневного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Scrum’a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каждому члену команды задаются только 3 вопроса:</a:t>
            </a:r>
          </a:p>
          <a:p>
            <a:pPr>
              <a:buFont typeface="Arial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 было сделано с последнего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Scrum’a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</a:p>
          <a:p>
            <a:pPr>
              <a:buFont typeface="Arial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 вы будете делать между этой и следующий встречей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</a:p>
          <a:p>
            <a:pPr>
              <a:buFont typeface="Arial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 мешает вам выполнять работу?</a:t>
            </a:r>
          </a:p>
          <a:p>
            <a:endParaRPr lang="ru-RU" sz="1200" b="1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—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методология управления разработкой информационных систем для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Гибкая методология разработки"/>
              </a:rPr>
              <a:t>гибкой разработки программного обеспечения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чётко делает акцент на качественном контроле процесса разработки.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Кроме управления проектами по разработке ПО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может также использоваться в работе команд поддержки программного обеспечения (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support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или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подход управления разработкой и сопровождением программ: 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Scrums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History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1986,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Hirotaka Takeuchi"/>
              </a:rPr>
              <a:t>Hirotaka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Hirotaka Takeuchi"/>
              </a:rPr>
              <a:t> Takeuchi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and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Ikujiro Nonaka"/>
              </a:rPr>
              <a:t>Ikujiro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Ikujiro Nonaka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Ikujiro Nonaka"/>
              </a:rPr>
              <a:t>Nonaka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described a new approach to commercial 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 tooltip="New product development"/>
              </a:rPr>
              <a:t>product development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that would increase speed and flexibility, based on case studies from manufacturing firms in the automotive, photocopier and printer industries.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ru-RU" sz="1200" b="0" i="0" u="none" strike="noStrike" kern="1200" baseline="30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30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called this the </a:t>
            </a:r>
            <a:r>
              <a:rPr lang="en-US" sz="1200" b="0" i="1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7" tooltip="Holistic"/>
              </a:rPr>
              <a:t>holistic</a:t>
            </a:r>
            <a:r>
              <a:rPr lang="en-US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or </a:t>
            </a:r>
            <a:r>
              <a:rPr lang="en-US" sz="1200" b="0" i="1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8" tooltip="Rugby football"/>
              </a:rPr>
              <a:t>rugby</a:t>
            </a:r>
            <a:r>
              <a:rPr lang="en-US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approach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as the whole process is performed by one cross-functional team across multiple overlapping phases, where the team "tries to go the distance as a unit, passing the ball back and forth".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 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8" tooltip="Rugby football"/>
              </a:rPr>
              <a:t>rugby football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 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9" tooltip="Scrum (rugby)"/>
              </a:rPr>
              <a:t>scrum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refers to the manner of restarting the game after a minor infraction. 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early 1990s, 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0" tooltip="Ken Schwaber"/>
              </a:rPr>
              <a:t>Ken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10" tooltip="Ken Schwaber"/>
              </a:rPr>
              <a:t>Schwaber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used what would become Scrum at his company, Advanced Development Methods, and 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1" tooltip="Jeff Sutherland"/>
              </a:rPr>
              <a:t>Jeff Sutherland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with John </a:t>
            </a:r>
            <a:r>
              <a:rPr lang="en-US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Scumniotales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Jeff McKenna, developed a similar approach at Easel Corporation, and were the first to refer to it using the single word </a:t>
            </a:r>
            <a:r>
              <a:rPr lang="en-US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2"/>
              </a:rPr>
              <a:t>[5]</a:t>
            </a: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1995, Sutherland and </a:t>
            </a:r>
            <a:r>
              <a:rPr lang="en-US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Schwaber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jointly presented a paper describing the </a:t>
            </a:r>
            <a:r>
              <a:rPr lang="en-US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 methodology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at the Business Object Design and Implementation Workshop held as part of 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3" tooltip="OOPSLA"/>
              </a:rPr>
              <a:t>OOPSLA ’95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in Austin, Texas, its first public presentation.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2"/>
              </a:rPr>
              <a:t>[6]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Schwaber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Sutherland collaborated during the following years to merge the above writings, their experiences, and industry best practices into what is now known as Scrum.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2001, </a:t>
            </a:r>
            <a:r>
              <a:rPr lang="en-US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Schwaber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worked with 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4" tooltip="Mike Beedle (page does not exist)"/>
              </a:rPr>
              <a:t>Mike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14" tooltip="Mike Beedle (page does not exist)"/>
              </a:rPr>
              <a:t>Beedle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to describe the method in the book </a:t>
            </a:r>
            <a:r>
              <a:rPr lang="en-US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Agile Software Development with Scrum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2"/>
              </a:rPr>
              <a:t>[7]</a:t>
            </a: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Although the word is not an 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5" tooltip="Acronym"/>
              </a:rPr>
              <a:t>acronym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some companies implementing the process have been known to spell it with capital letters as SCRUM. This may be due to one of Ken </a:t>
            </a:r>
            <a:r>
              <a:rPr lang="en-US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Schwaber’s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early papers, which capitalized SCRUM in the title.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2"/>
              </a:rPr>
              <a:t>[1]</a:t>
            </a: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Историческая справка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Подход впервые описали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16" tooltip="Хиротака Такеути (страница отсутствует)"/>
              </a:rPr>
              <a:t>Хиротака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6" tooltip="Хиротака Такеути (страница отсутствует)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16" tooltip="Хиротака Такеути (страница отсутствует)"/>
              </a:rPr>
              <a:t>Такеути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7"/>
              </a:rPr>
              <a:t>[1]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18" tooltip="Икудзиро Нонака (страница отсутствует)"/>
              </a:rPr>
              <a:t>Икудзиро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8" tooltip="Икудзиро Нонака (страница отсутствует)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18" tooltip="Икудзиро Нонака (страница отсутствует)"/>
              </a:rPr>
              <a:t>Нонака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7"/>
              </a:rPr>
              <a:t>[2]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в статье 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Гарвардский Деловой Обзор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7"/>
              </a:rPr>
              <a:t>[3]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январь-февраль 1986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Они отметили, что проекты, над которыми работают небольшие,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кросс-функциональные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команды, обычно систематически производят лучшие результаты, и объяснили это как «подход регби». В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9" tooltip="1991 год"/>
              </a:rPr>
              <a:t>1991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19" tooltip="1991 год"/>
              </a:rPr>
              <a:t>году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ДеГрейс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Шталь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книге 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«Злые проблемы, справедливые решения»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7"/>
              </a:rPr>
              <a:t>[4]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ссылались на этот подход, как на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толкотня; схватка вокруг мяча (в регби)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спортивный термин, приведённый в статье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Такеути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Нонакой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0" tooltip="Кен Швабер (страница отсутствует)"/>
              </a:rPr>
              <a:t>Кен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20" tooltip="Кен Швабер (страница отсутствует)"/>
              </a:rPr>
              <a:t>Швабер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7"/>
              </a:rPr>
              <a:t>[5]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в начале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1" tooltip="1990-е"/>
              </a:rPr>
              <a:t>1990-х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использовал подход, который привел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его компанию. Впервые метод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был представлен на общее обозрение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задокументированным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чётко сформированным и описанным совместно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Швабером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22" tooltip="Джеф Сазерленд (страница отсутствует)"/>
              </a:rPr>
              <a:t>Джефом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2" tooltip="Джеф Сазерленд (страница отсутствует)"/>
              </a:rPr>
              <a:t> Сазерлендом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7"/>
              </a:rPr>
              <a:t>[6]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на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3" tooltip="OOPSLA (страница отсутствует)"/>
              </a:rPr>
              <a:t>OOPSLA’96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7"/>
              </a:rPr>
              <a:t>[7]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3" tooltip="en:OOPSLA"/>
              </a:rPr>
              <a:t>англ.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в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24" tooltip="Остин (Техас)"/>
              </a:rPr>
              <a:t>Остине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Швабер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Сазерленд на протяжении следующих лет работали вместе, чтобы обработать и описать весь их опыт и лучшие практические образцы для индустрии в одно целое, в ту методологию, что известна сегодня как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Швабер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объединил усилия с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5" tooltip="Майком Бидлом (страница отсутствует)"/>
              </a:rPr>
              <a:t>Майком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25" tooltip="Майком Бидлом (страница отсутствует)"/>
              </a:rPr>
              <a:t>Бидлом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17"/>
              </a:rPr>
              <a:t>[8]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в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6" tooltip="2001 год"/>
              </a:rPr>
              <a:t>2001 году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чтобы детально описать метод в книге «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Agile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SCRUM»</a:t>
            </a:r>
          </a:p>
          <a:p>
            <a:pPr>
              <a:buFont typeface="Arial" pitchFamily="34" charset="0"/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EA7333-40CC-4488-984A-3D4A33D1DCF2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/>
          </a:p>
        </p:txBody>
      </p:sp>
      <p:sp>
        <p:nvSpPr>
          <p:cNvPr id="19459" name="Номер слайда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24B779-183A-4780-A4D7-B960BD4B0681}" type="slidenum">
              <a:rPr lang="ru-RU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ru-RU"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Главные принципы </a:t>
            </a:r>
            <a:r>
              <a:rPr lang="ru-RU" sz="1200" b="1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endParaRPr lang="ru-RU" sz="1200" b="1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Индивидуализм и взаимодействие важнее строгих процессов и методов.</a:t>
            </a:r>
          </a:p>
          <a:p>
            <a:pPr>
              <a:buFont typeface="Arial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Работающее ПО важнее сложной документации.</a:t>
            </a:r>
          </a:p>
          <a:p>
            <a:pPr>
              <a:buFont typeface="Arial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Взаимодействие с заказчиками важнее контрактных договоренностей.</a:t>
            </a:r>
          </a:p>
          <a:p>
            <a:pPr>
              <a:buFont typeface="Arial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Готовность изменить важнее следованию плану.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как и другие способы быстрой разработки ПО лежит вне того представления, что главной задачей является делать все возможное для следования плану. 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это искусство возможного.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Девизом 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Scrum’a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можно считать следование здравому смыслу.</a:t>
            </a:r>
          </a:p>
          <a:p>
            <a:endParaRPr lang="ru-RU" sz="1200" b="1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3FAD2-BB43-4743-ADCC-660877EE51E5}" type="slidenum">
              <a:rPr lang="ru-RU" smtClean="0"/>
              <a:pPr/>
              <a:t>33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68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919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5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950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01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45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987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143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08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376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26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5C12E70-5EE3-4DE8-97B7-ED512AF7E85B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FEDBFD-A177-41AF-861B-0DE4B1F1821B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72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Тема 3 </a:t>
            </a:r>
            <a:br>
              <a:rPr lang="ru-RU" sz="4000" dirty="0"/>
            </a:br>
            <a:r>
              <a:rPr lang="ru-RU" sz="4000" dirty="0"/>
              <a:t>Классические методологии разработки цифрового продукта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вопросы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ru-RU" dirty="0"/>
              <a:t>Водопадная модель и ее модификации</a:t>
            </a:r>
          </a:p>
          <a:p>
            <a:pPr marL="228600" indent="-228600">
              <a:buAutoNum type="arabicPeriod"/>
            </a:pPr>
            <a:r>
              <a:rPr lang="ru-RU" dirty="0"/>
              <a:t>Модель </a:t>
            </a:r>
            <a:r>
              <a:rPr lang="ru-RU" dirty="0" err="1"/>
              <a:t>прототипирования</a:t>
            </a:r>
            <a:r>
              <a:rPr lang="ru-RU" dirty="0"/>
              <a:t> </a:t>
            </a:r>
          </a:p>
          <a:p>
            <a:pPr marL="228600" indent="-228600">
              <a:buAutoNum type="arabicPeriod"/>
            </a:pPr>
            <a:r>
              <a:rPr lang="ru-RU" dirty="0"/>
              <a:t>Итеративная разработка</a:t>
            </a:r>
          </a:p>
          <a:p>
            <a:pPr marL="228600" indent="-228600">
              <a:buAutoNum type="arabicPeriod"/>
            </a:pPr>
            <a:r>
              <a:rPr lang="ru-RU" dirty="0"/>
              <a:t>Спиральная модель</a:t>
            </a:r>
          </a:p>
          <a:p>
            <a:pPr marL="228600" indent="-228600">
              <a:buAutoNum type="arabicPeriod"/>
            </a:pPr>
            <a:r>
              <a:rPr lang="ru-RU" dirty="0"/>
              <a:t>Гибкие «</a:t>
            </a:r>
            <a:r>
              <a:rPr lang="en-US" dirty="0"/>
              <a:t>Agile</a:t>
            </a:r>
            <a:r>
              <a:rPr lang="ru-RU" dirty="0"/>
              <a:t>» модели процессов разработки.</a:t>
            </a:r>
          </a:p>
          <a:p>
            <a:pPr marL="228600" indent="-228600">
              <a:buAutoNum type="arabicPeriod"/>
            </a:pPr>
            <a:r>
              <a:rPr lang="ru-RU" dirty="0"/>
              <a:t> Методология </a:t>
            </a:r>
            <a:r>
              <a:rPr lang="en-US" dirty="0"/>
              <a:t>SCRUM</a:t>
            </a:r>
          </a:p>
          <a:p>
            <a:pPr marL="228600" indent="-228600">
              <a:buAutoNum type="arabicPeriod"/>
            </a:pPr>
            <a:r>
              <a:rPr lang="ru-RU" dirty="0"/>
              <a:t>Сравнительный анализ моделей</a:t>
            </a:r>
          </a:p>
          <a:p>
            <a:pPr marL="228600" indent="-228600">
              <a:buAutoNum type="arabicPeriod"/>
            </a:pP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077091" cy="479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3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Водопадная модель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1700808"/>
            <a:ext cx="8229600" cy="4525963"/>
          </a:xfrm>
        </p:spPr>
        <p:txBody>
          <a:bodyPr>
            <a:normAutofit/>
          </a:bodyPr>
          <a:lstStyle/>
          <a:p>
            <a:r>
              <a:rPr lang="ru-RU" dirty="0"/>
              <a:t>Все этапы разработки следуют друг за другом в строгой последовательности</a:t>
            </a:r>
          </a:p>
          <a:p>
            <a:r>
              <a:rPr lang="ru-RU" dirty="0"/>
              <a:t>Переход к следующему этапу происходит только после окончания предыдущего</a:t>
            </a:r>
          </a:p>
          <a:p>
            <a:r>
              <a:rPr lang="ru-RU" dirty="0"/>
              <a:t>Возвращение к пройденным этапам и внесение изменений не  предусмотрено</a:t>
            </a:r>
          </a:p>
          <a:p>
            <a:r>
              <a:rPr lang="ru-RU" dirty="0"/>
              <a:t>При завершении каждого этапа создается полный комплект документации</a:t>
            </a:r>
          </a:p>
          <a:p>
            <a:r>
              <a:rPr lang="ru-RU" dirty="0"/>
              <a:t>Качество разработанного программного обеспечения оценивается по точности соответствия требованиям технического задания</a:t>
            </a:r>
          </a:p>
        </p:txBody>
      </p:sp>
    </p:spTree>
    <p:extLst>
      <p:ext uri="{BB962C8B-B14F-4D97-AF65-F5344CB8AC3E}">
        <p14:creationId xmlns:p14="http://schemas.microsoft.com/office/powerpoint/2010/main" val="280616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3020" y="260648"/>
            <a:ext cx="8892480" cy="6481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Результат каждого последующего этапа часто называется продуктом труда и обычно имеет форму некоторого документа (например, описания требований или описание проекта, программный код).</a:t>
            </a:r>
          </a:p>
          <a:p>
            <a:pPr marL="0" indent="0">
              <a:buNone/>
            </a:pPr>
            <a:r>
              <a:rPr lang="ru-RU" dirty="0"/>
              <a:t>Хотя набор документов, создаваемых в проекте зависит от его реализации, следующие документы обычно составляют обоснованный набор, который должен быть создан в каждом проекте:</a:t>
            </a:r>
          </a:p>
          <a:p>
            <a:pPr lvl="1"/>
            <a:r>
              <a:rPr lang="ru-RU" dirty="0"/>
              <a:t>спецификация требований</a:t>
            </a:r>
            <a:r>
              <a:rPr lang="en-US" dirty="0"/>
              <a:t>;</a:t>
            </a:r>
          </a:p>
          <a:p>
            <a:pPr lvl="1"/>
            <a:r>
              <a:rPr lang="ru-RU" dirty="0"/>
              <a:t>план проекта</a:t>
            </a:r>
            <a:r>
              <a:rPr lang="en-US" dirty="0"/>
              <a:t>;</a:t>
            </a:r>
          </a:p>
          <a:p>
            <a:pPr lvl="1"/>
            <a:r>
              <a:rPr lang="ru-RU" dirty="0"/>
              <a:t>документы по  проектированию (архитектура системы, описание подсистем, детальный проект)</a:t>
            </a:r>
            <a:r>
              <a:rPr lang="en-US" dirty="0"/>
              <a:t>;</a:t>
            </a:r>
            <a:endParaRPr lang="ru-RU" dirty="0"/>
          </a:p>
          <a:p>
            <a:pPr lvl="1"/>
            <a:r>
              <a:rPr lang="ru-RU" dirty="0"/>
              <a:t>план тестирования и отчет о результатах </a:t>
            </a:r>
            <a:r>
              <a:rPr lang="en-US" dirty="0"/>
              <a:t>;</a:t>
            </a:r>
            <a:endParaRPr lang="ru-RU" dirty="0"/>
          </a:p>
          <a:p>
            <a:pPr lvl="1"/>
            <a:r>
              <a:rPr lang="ru-RU" dirty="0"/>
              <a:t>описание конечной программной реализации</a:t>
            </a:r>
            <a:r>
              <a:rPr lang="en-US" dirty="0"/>
              <a:t>;</a:t>
            </a:r>
          </a:p>
          <a:p>
            <a:pPr lvl="1"/>
            <a:r>
              <a:rPr lang="ru-RU" dirty="0"/>
              <a:t>руководства по работе с ПО (администратора, пользователя).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4400" y="404664"/>
            <a:ext cx="8229600" cy="61261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Достоинства водопадной модели:</a:t>
            </a:r>
          </a:p>
          <a:p>
            <a:pPr marL="514350" indent="-514350">
              <a:buAutoNum type="arabicPeriod"/>
            </a:pPr>
            <a:r>
              <a:rPr lang="ru-RU" dirty="0"/>
              <a:t>Устойчива к изменению кадрового состава</a:t>
            </a:r>
          </a:p>
          <a:p>
            <a:pPr marL="514350" indent="-514350">
              <a:buAutoNum type="arabicPeriod"/>
            </a:pPr>
            <a:r>
              <a:rPr lang="ru-RU" dirty="0"/>
              <a:t>Дисциплина исполнения</a:t>
            </a:r>
          </a:p>
          <a:p>
            <a:pPr marL="514350" indent="-514350">
              <a:buAutoNum type="arabicPeriod"/>
            </a:pPr>
            <a:r>
              <a:rPr lang="ru-RU" dirty="0"/>
              <a:t>Гибкость на ранних этапах. </a:t>
            </a:r>
          </a:p>
          <a:p>
            <a:pPr marL="514350" indent="-514350">
              <a:buAutoNum type="arabicPeriod"/>
            </a:pPr>
            <a:r>
              <a:rPr lang="ru-RU" dirty="0"/>
              <a:t>Ориентация на сроки и финансы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Недостатки водопадной модели:</a:t>
            </a:r>
          </a:p>
          <a:p>
            <a:pPr marL="514350" indent="-514350">
              <a:buAutoNum type="arabicPeriod"/>
            </a:pPr>
            <a:r>
              <a:rPr lang="ru-RU" dirty="0"/>
              <a:t>Неадаптивная структура ПО. </a:t>
            </a:r>
          </a:p>
          <a:p>
            <a:pPr marL="514350" indent="-514350">
              <a:buAutoNum type="arabicPeriod"/>
            </a:pPr>
            <a:r>
              <a:rPr lang="ru-RU" dirty="0"/>
              <a:t>Игнорирует конечного пользователя.</a:t>
            </a:r>
          </a:p>
          <a:p>
            <a:pPr marL="514350" indent="-514350">
              <a:buAutoNum type="arabicPeriod"/>
            </a:pPr>
            <a:r>
              <a:rPr lang="ru-RU" dirty="0"/>
              <a:t>Позднее тестирование.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1574780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857364"/>
            <a:ext cx="798195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</a:t>
            </a:r>
            <a:r>
              <a:rPr lang="ru-RU" dirty="0"/>
              <a:t>образная модель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ru-RU" dirty="0"/>
              <a:t>-образная модель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Является одной из разновидностей каскадной модели</a:t>
            </a:r>
          </a:p>
          <a:p>
            <a:r>
              <a:rPr lang="ru-RU" dirty="0"/>
              <a:t>Особое внимание уделяется тестированию продукта</a:t>
            </a:r>
          </a:p>
          <a:p>
            <a:r>
              <a:rPr lang="ru-RU" dirty="0"/>
              <a:t>Выполнение всех этапов разработки происходит последовательно. Каждому из этапов проектирования  и разработки соответствует определенный этап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943612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07504" y="188640"/>
            <a:ext cx="849694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u="sng" dirty="0">
                <a:latin typeface="Arial" panose="020B0604020202020204" pitchFamily="34" charset="0"/>
              </a:rPr>
              <a:t>Преимущества:</a:t>
            </a:r>
          </a:p>
          <a:p>
            <a:pPr algn="just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•в модели предусмотрены аттестация и верификация всех внешних и внутренних полученных данных, а не только самого программного продукта;</a:t>
            </a:r>
          </a:p>
          <a:p>
            <a:pPr algn="just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•благодаря модели менеджеры проекта может отслеживать ход процесса разработки, так как в данном случае вполне возможно воспользоваться временной шкалой, а завершение каждой фазы является контрольной точкой;</a:t>
            </a:r>
          </a:p>
          <a:p>
            <a:pPr algn="just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•модель проста в использовании (относительно проекта, для которого она является приемлемой).</a:t>
            </a:r>
          </a:p>
          <a:p>
            <a:r>
              <a:rPr lang="ru-RU" b="1" i="1" u="sng" dirty="0">
                <a:latin typeface="Arial" panose="020B0604020202020204" pitchFamily="34" charset="0"/>
              </a:rPr>
              <a:t>Недостатки:</a:t>
            </a:r>
          </a:p>
          <a:p>
            <a:pPr algn="just"/>
            <a:endParaRPr lang="ru-RU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•в ней не учтены итерации между фазами;</a:t>
            </a:r>
          </a:p>
          <a:p>
            <a:pPr algn="just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•в модели не предусмотрено внесение требования динамических изменений на разных этапах жизненного цикла;</a:t>
            </a:r>
          </a:p>
          <a:p>
            <a:pPr algn="just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•в модель не входят действия, направленные на анализ рисков.</a:t>
            </a:r>
            <a:endParaRPr lang="ru-RU" b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543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543800" cy="1450757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Когда использовать V-модель?</a:t>
            </a:r>
            <a:br>
              <a:rPr lang="ru-RU" sz="3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2372" y="2204864"/>
            <a:ext cx="8784976" cy="2003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требуется тщательное тестирование продукта, то V-модель оправдает заложенную в себя идею: </a:t>
            </a:r>
            <a:r>
              <a:rPr lang="ru-RU" dirty="0" err="1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validation</a:t>
            </a:r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verification</a:t>
            </a:r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малых и средних проектов, где требования четко определены и фиксированы.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условиях доступности инженеров необходимой квалификации, особенно </a:t>
            </a:r>
            <a:r>
              <a:rPr lang="ru-RU" dirty="0" err="1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тестировщиков</a:t>
            </a:r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52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ru-RU" dirty="0"/>
              <a:t> Модель </a:t>
            </a:r>
            <a:r>
              <a:rPr lang="ru-RU" dirty="0" err="1"/>
              <a:t>прототипирования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2060848"/>
            <a:ext cx="8892480" cy="5517231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Основная идея – вместо замораживания требований, создавать, перед началом проектирования и кодирования, одноразовый прототип, который может помочь понять требования заказчика.</a:t>
            </a:r>
          </a:p>
          <a:p>
            <a:pPr algn="just"/>
            <a:r>
              <a:rPr lang="ru-RU" dirty="0"/>
              <a:t>Очевидно, что разработка прототипа тоже проходит этапы проектирования, кодирования и тестирования, но каждый их этих этапов, но каждый из этих этапов выполняется не формально и не тщательно.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4880" y="260648"/>
            <a:ext cx="7543800" cy="536314"/>
          </a:xfrm>
        </p:spPr>
        <p:txBody>
          <a:bodyPr>
            <a:normAutofit fontScale="90000"/>
          </a:bodyPr>
          <a:lstStyle/>
          <a:p>
            <a:r>
              <a:rPr lang="ru-RU" dirty="0"/>
              <a:t>Виды </a:t>
            </a:r>
            <a:r>
              <a:rPr lang="ru-RU" dirty="0" err="1"/>
              <a:t>прототипирования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48816" y="1846542"/>
            <a:ext cx="89644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4C4C4C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Эволюционное </a:t>
            </a:r>
            <a:r>
              <a:rPr lang="ru-RU" b="1" dirty="0" err="1">
                <a:solidFill>
                  <a:srgbClr val="4C4C4C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прототипирование</a:t>
            </a:r>
            <a:r>
              <a:rPr lang="ru-RU" dirty="0">
                <a:solidFill>
                  <a:srgbClr val="4C4C4C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 предполагает последовательное увеличение достоверности исходного образца, пока, в конце концов, он не становится законченной системой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787" y="2821597"/>
            <a:ext cx="4680520" cy="99797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48816" y="3819452"/>
            <a:ext cx="9034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Экстремальное </a:t>
            </a:r>
            <a:r>
              <a:rPr lang="ru-RU" dirty="0" err="1"/>
              <a:t>прототипирование</a:t>
            </a:r>
            <a:r>
              <a:rPr lang="ru-RU" dirty="0"/>
              <a:t> используется при создании веб-приложений.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14" y="4188784"/>
            <a:ext cx="4807933" cy="204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18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332656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Достоинства метода </a:t>
            </a:r>
            <a:r>
              <a:rPr lang="ru-RU" dirty="0" err="1"/>
              <a:t>прототипирования</a:t>
            </a:r>
            <a:endParaRPr lang="ru-RU" dirty="0"/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ru-RU" dirty="0">
                <a:latin typeface="Tahoma" charset="0"/>
              </a:rPr>
              <a:t>Помогает выявить требования.</a:t>
            </a:r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ru-RU" dirty="0">
                <a:latin typeface="Tahoma" charset="0"/>
              </a:rPr>
              <a:t>Уменьшает риски.</a:t>
            </a:r>
            <a:endParaRPr lang="en-US" dirty="0">
              <a:latin typeface="Tahoma" charset="0"/>
            </a:endParaRPr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ru-RU" dirty="0">
                <a:latin typeface="Tahoma" charset="0"/>
              </a:rPr>
              <a:t>Получается более стабильная конечная система.</a:t>
            </a:r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ru-RU" dirty="0"/>
              <a:t>взаимодействие пользователя и/или заказчика с системой начинается на раннем этапе разработки;</a:t>
            </a:r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endParaRPr lang="ru-RU" dirty="0">
              <a:latin typeface="Tahoma" charset="0"/>
            </a:endParaRPr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endParaRPr lang="ru-RU" dirty="0">
              <a:latin typeface="Tahoma" charset="0"/>
            </a:endParaRPr>
          </a:p>
          <a:p>
            <a:pPr marL="0" indent="0" fontAlgn="base">
              <a:spcAft>
                <a:spcPct val="0"/>
              </a:spcAft>
              <a:buClr>
                <a:schemeClr val="folHlink"/>
              </a:buClr>
              <a:buSzPct val="60000"/>
              <a:buNone/>
            </a:pPr>
            <a:r>
              <a:rPr lang="ru-RU" dirty="0">
                <a:latin typeface="Tahoma" charset="0"/>
              </a:rPr>
              <a:t>Недостатки метода</a:t>
            </a:r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ru-RU" dirty="0">
                <a:latin typeface="Tahoma" charset="0"/>
              </a:rPr>
              <a:t>Возможны высокая стоимость и сжатые сроки.</a:t>
            </a:r>
            <a:endParaRPr lang="en-US" dirty="0">
              <a:latin typeface="Tahoma" charset="0"/>
            </a:endParaRPr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ru-RU" dirty="0">
                <a:latin typeface="Tahoma" charset="0"/>
              </a:rPr>
              <a:t>Поощряет раздувание требований.</a:t>
            </a:r>
            <a:endParaRPr lang="en-US" dirty="0">
              <a:latin typeface="Tahoma" charset="0"/>
            </a:endParaRPr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ru-RU" dirty="0">
                <a:latin typeface="Tahoma" charset="0"/>
              </a:rPr>
              <a:t>Затрудняет поздние изменения требований.</a:t>
            </a:r>
            <a:endParaRPr lang="en-US" dirty="0">
              <a:latin typeface="Tahoma" charset="0"/>
            </a:endParaRPr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endParaRPr lang="ru-RU" dirty="0">
              <a:latin typeface="Tahoma" charset="0"/>
            </a:endParaRPr>
          </a:p>
          <a:p>
            <a:pPr fontAlgn="base">
              <a:spcAft>
                <a:spcPct val="0"/>
              </a:spcAft>
              <a:buClr>
                <a:schemeClr val="folHlink"/>
              </a:buClr>
              <a:buSzPct val="60000"/>
            </a:pPr>
            <a:endParaRPr lang="en-US" dirty="0">
              <a:latin typeface="Tahoma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0594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Когда использовать метод </a:t>
            </a:r>
            <a:r>
              <a:rPr lang="ru-RU" dirty="0" err="1"/>
              <a:t>прототипирования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ru-RU" dirty="0"/>
              <a:t>для </a:t>
            </a:r>
            <a:r>
              <a:rPr lang="ru-RU" b="1" i="1" dirty="0"/>
              <a:t>демонстрации осуществимости некоторого нового подхода</a:t>
            </a:r>
            <a:r>
              <a:rPr lang="ru-RU" dirty="0"/>
              <a:t>; </a:t>
            </a:r>
            <a:endParaRPr lang="ru-RU" sz="2000" dirty="0"/>
          </a:p>
          <a:p>
            <a:pPr lvl="1"/>
            <a:r>
              <a:rPr lang="ru-RU" dirty="0"/>
              <a:t>при разработке новых систем, когда не понятно, какие ограничения могут возникнуть, или какие алгоритмы могут быть разработаны для реализации  требований.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87941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Итеративная разработка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8620" y="1844824"/>
            <a:ext cx="8892480" cy="5257800"/>
          </a:xfrm>
        </p:spPr>
        <p:txBody>
          <a:bodyPr>
            <a:normAutofit/>
          </a:bodyPr>
          <a:lstStyle/>
          <a:p>
            <a:r>
              <a:rPr lang="ru-RU" dirty="0"/>
              <a:t>Основная идея – пошаговая разработка ПО (постепенная, итеративная, инкрементальная).</a:t>
            </a:r>
          </a:p>
          <a:p>
            <a:r>
              <a:rPr lang="ru-RU" dirty="0"/>
              <a:t>На каждом шаге к создаваемой ПС должны добавляться некоторые функциональные возможности, до тех пор, пока система не будет реализована полностью.</a:t>
            </a:r>
          </a:p>
          <a:p>
            <a:r>
              <a:rPr lang="ru-RU" dirty="0"/>
              <a:t>На первом шаге данной модели создается простое начальное приложение, реализующее подмножество задач полного решения проблемы. </a:t>
            </a:r>
          </a:p>
          <a:p>
            <a:r>
              <a:rPr lang="ru-RU" dirty="0"/>
              <a:t>Данное подмножество должно включать некоторые из основных задач рассматриваемой проблемы, которые легко понять и реализовать, и которые формируют полезную и простую в применении систему.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Фазы итеративной модели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326234"/>
            <a:ext cx="7543800" cy="30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12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16632"/>
            <a:ext cx="8229600" cy="5793507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800" b="1" i="1" dirty="0"/>
              <a:t>Преимущества итеративного подхода:</a:t>
            </a:r>
            <a:endParaRPr lang="ru-RU" sz="1800" dirty="0"/>
          </a:p>
          <a:p>
            <a:pPr>
              <a:spcBef>
                <a:spcPts val="0"/>
              </a:spcBef>
            </a:pPr>
            <a:r>
              <a:rPr lang="ru-RU" sz="1800" dirty="0"/>
              <a:t>снижение воздействия серьёзных рисков на ранних стадиях проекта, что ведет к минимизации затрат на их устранение;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 организация эффективной обратной связи проектной команды с потребителем (а также заказчиками, </a:t>
            </a:r>
            <a:r>
              <a:rPr lang="ru-RU" sz="1800" dirty="0" err="1"/>
              <a:t>стейкхолдерами</a:t>
            </a:r>
            <a:r>
              <a:rPr lang="ru-RU" sz="1800" dirty="0"/>
              <a:t>) и создание продукта, реально отвечающего его потребностям;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непрерывное итеративное тестирование, позволяющее оценить успешность всего проекта в целом;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 раннее обнаружение конфликтов между требованиями, моделями и реализацией проекта;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 более равномерная загрузка участников проекта;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реальная оценка текущего состояния проекта и, как следствие, большая уверенность заказчиков и непосредственных участников в его успешном завершении.</a:t>
            </a:r>
          </a:p>
          <a:p>
            <a:pPr>
              <a:spcBef>
                <a:spcPts val="0"/>
              </a:spcBef>
            </a:pP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800" b="1" i="1" dirty="0"/>
              <a:t>Недостатки: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 целостное понимание возможностей и ограничений проекта очень долгое время отсутствует.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 при итерациях приходится отбрасывать часть сделанной ранее работы.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добросовестность специалистов при выполнении работ всё же снижается, что психологически объяснимо, ведь над ними постоянно довлеет ощущение, что «всё равно всё можно будет переделать и улучшить позже»</a:t>
            </a:r>
          </a:p>
        </p:txBody>
      </p:sp>
    </p:spTree>
    <p:extLst>
      <p:ext uri="{BB962C8B-B14F-4D97-AF65-F5344CB8AC3E}">
        <p14:creationId xmlns:p14="http://schemas.microsoft.com/office/powerpoint/2010/main" val="1654676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Спиральная модель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/>
              <a:t>Спиральная модель (англ. </a:t>
            </a:r>
            <a:r>
              <a:rPr lang="ru-RU" dirty="0" err="1"/>
              <a:t>spiral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) была разработана в середине 1980-х годов Барри Боэмом. </a:t>
            </a:r>
          </a:p>
          <a:p>
            <a:pPr>
              <a:buNone/>
            </a:pPr>
            <a:r>
              <a:rPr lang="ru-RU" dirty="0"/>
              <a:t>Она основана на классическом цикле </a:t>
            </a:r>
            <a:r>
              <a:rPr lang="ru-RU" dirty="0" err="1"/>
              <a:t>Деминга</a:t>
            </a:r>
            <a:r>
              <a:rPr lang="ru-RU" dirty="0"/>
              <a:t> PDCA (</a:t>
            </a:r>
            <a:r>
              <a:rPr lang="ru-RU" dirty="0" err="1"/>
              <a:t>plan-do-check-act</a:t>
            </a:r>
            <a:r>
              <a:rPr lang="ru-RU" dirty="0"/>
              <a:t>). </a:t>
            </a:r>
          </a:p>
          <a:p>
            <a:pPr>
              <a:buNone/>
            </a:pPr>
            <a:r>
              <a:rPr lang="ru-RU" dirty="0"/>
              <a:t>При использовании этой модели ПО создается несколько итераций (витков спирали) методом </a:t>
            </a:r>
            <a:r>
              <a:rPr lang="ru-RU" dirty="0" err="1"/>
              <a:t>прототипирования</a:t>
            </a:r>
            <a:r>
              <a:rPr lang="ru-RU" dirty="0"/>
              <a:t>.</a:t>
            </a:r>
          </a:p>
          <a:p>
            <a:pPr>
              <a:buNone/>
            </a:pPr>
            <a:r>
              <a:rPr lang="ru-RU" dirty="0"/>
              <a:t>Каждая итерация соответствует созданию фрагмента или версии ПО, на ней уточняются цели и характеристики проекта, оценивается качество полученных результатов и планируются работы следующей итерации.</a:t>
            </a:r>
          </a:p>
          <a:p>
            <a:pPr>
              <a:buNone/>
            </a:pPr>
            <a:endParaRPr lang="ru-RU" b="1" u="sng" dirty="0"/>
          </a:p>
          <a:p>
            <a:pPr>
              <a:buNone/>
            </a:pPr>
            <a:r>
              <a:rPr lang="ru-RU" u="sng" dirty="0"/>
              <a:t>На каждой итерации оцениваются:</a:t>
            </a:r>
            <a:endParaRPr lang="ru-RU" dirty="0"/>
          </a:p>
          <a:p>
            <a:pPr lvl="0"/>
            <a:r>
              <a:rPr lang="ru-RU" u="sng" dirty="0"/>
              <a:t>риск превышения сроков и стоимости проекта;</a:t>
            </a:r>
            <a:endParaRPr lang="ru-RU" dirty="0"/>
          </a:p>
          <a:p>
            <a:pPr lvl="0"/>
            <a:r>
              <a:rPr lang="ru-RU" u="sng" dirty="0"/>
              <a:t>необходимость выполнения ещё одной итерации;</a:t>
            </a:r>
            <a:endParaRPr lang="ru-RU" dirty="0"/>
          </a:p>
          <a:p>
            <a:pPr lvl="0"/>
            <a:r>
              <a:rPr lang="ru-RU" u="sng" dirty="0"/>
              <a:t>степень полноты и точности понимания требований к системе;</a:t>
            </a:r>
            <a:endParaRPr lang="ru-RU" dirty="0"/>
          </a:p>
          <a:p>
            <a:pPr lvl="0"/>
            <a:r>
              <a:rPr lang="ru-RU" u="sng" dirty="0"/>
              <a:t>целесообразность прекращения проекта.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463" y="144463"/>
            <a:ext cx="59055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0" y="751245"/>
            <a:ext cx="9144000" cy="553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Боэм формулирует 10 наиболее распространённых (по приоритетам) рисков: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Дефицит специалистов.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Нереалистичные сроки и бюджет.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Реализация несоответствующей функциональности.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Разработка неправильного пользовательского интерфейса.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Перфекционизм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, ненужная оптимизация и оттачивание деталей.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Непрекращающийся поток изменений.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Нехватка информации о внешних компонентах, определяющих окружение системы или вовлеченных в интеграцию.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Недостатки в работах, выполняемых внешними (по отношению к проекту) ресурсами.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Недостаточная производительность получаемой системы.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Calibri" pitchFamily="34" charset="0"/>
                <a:cs typeface="Times New Roman" pitchFamily="18" charset="0"/>
              </a:rPr>
              <a:t>Разрыв в квалификации специалистов разных областей.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sz="2600" b="1" dirty="0"/>
              <a:t>Преимущества спиральной модели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спиральная модель разрешает пользователям "увидеть" систему на ранних этапах;</a:t>
            </a:r>
          </a:p>
          <a:p>
            <a:r>
              <a:rPr lang="ru-RU" dirty="0"/>
              <a:t>эта модель разрешает пользователям активно принимать участие при планирова­нии, анализе рисков, разработке, а также при выполнении оценочных действий;</a:t>
            </a:r>
          </a:p>
          <a:p>
            <a:r>
              <a:rPr lang="ru-RU" dirty="0"/>
              <a:t>в модели предусмотрена возможность гибкого проектирования</a:t>
            </a:r>
          </a:p>
          <a:p>
            <a:r>
              <a:rPr lang="ru-RU" dirty="0"/>
              <a:t>обратная связь по направлению от пользователей к разработчикам выполняется с высокой частотой и на ранних этапах модели, что обеспечивает создание нужного продукта высокого качества;</a:t>
            </a:r>
          </a:p>
          <a:p>
            <a:r>
              <a:rPr lang="ru-RU" dirty="0"/>
              <a:t>при использовании спиральной модели не нужно распределять заранее все необходимые для выполнения проекта финансовые ресурсы;</a:t>
            </a:r>
          </a:p>
          <a:p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Недостатки спиральной модели</a:t>
            </a:r>
          </a:p>
          <a:p>
            <a:r>
              <a:rPr lang="ru-RU" dirty="0"/>
              <a:t> если проект имеет низкую степень риска или небольшие размеры, модель может оказаться дорогостоящей. Оценка рисков после прохождения каждой спирали связана с большими затратами;</a:t>
            </a:r>
          </a:p>
          <a:p>
            <a:r>
              <a:rPr lang="ru-RU" dirty="0"/>
              <a:t> серьезная нужда в высокопрофессиональных знаниях для оценки рисков;</a:t>
            </a:r>
          </a:p>
          <a:p>
            <a:r>
              <a:rPr lang="ru-RU" dirty="0"/>
              <a:t>спираль может продолжаться до бесконечности, поскольку каждая ответная реак­ция заказчика на созданную версию может порождать новый цикл, что отдаляет окончание работы над проектом (принятие общего решения о прекращении про­цесса разработки);</a:t>
            </a:r>
          </a:p>
          <a:p>
            <a:r>
              <a:rPr lang="ru-RU" dirty="0"/>
              <a:t> использование модели может оказаться дорогостоящим и даже недопустимым по средствам, так как время, затраченное на планирование, повторное определение целей, выполнение анализа рисков и </a:t>
            </a:r>
            <a:r>
              <a:rPr lang="ru-RU" dirty="0" err="1"/>
              <a:t>прототипирование</a:t>
            </a:r>
            <a:r>
              <a:rPr lang="ru-RU" dirty="0"/>
              <a:t>, может быть чрезмерным;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2152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Процессная методология, состоящая из серии подходов   к разработке программного обеспечения или информационного продукта, ориентированная на использование итеративной разработки, динамическое формирование требований  и обеспечение их реализации,  в результате постоянного взаимодействия внутри самоорганизующихся рабочих групп, состоящих из специалистов различного профиля</a:t>
            </a:r>
          </a:p>
        </p:txBody>
      </p:sp>
    </p:spTree>
    <p:extLst>
      <p:ext uri="{BB962C8B-B14F-4D97-AF65-F5344CB8AC3E}">
        <p14:creationId xmlns:p14="http://schemas.microsoft.com/office/powerpoint/2010/main" val="291069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Общие </a:t>
            </a:r>
            <a:r>
              <a:rPr lang="ru-RU" dirty="0" err="1"/>
              <a:t>agile</a:t>
            </a:r>
            <a:r>
              <a:rPr lang="ru-RU" dirty="0"/>
              <a:t> предпосылки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1.	Переопределение ролей разработчиков, менеджеров и потребителей.</a:t>
            </a:r>
          </a:p>
          <a:p>
            <a:r>
              <a:rPr lang="ru-RU" dirty="0"/>
              <a:t>2.	Отказ от "Предваряющего анализа" (</a:t>
            </a:r>
            <a:r>
              <a:rPr lang="ru-RU" dirty="0" err="1"/>
              <a:t>Big</a:t>
            </a:r>
            <a:r>
              <a:rPr lang="ru-RU" dirty="0"/>
              <a:t> </a:t>
            </a:r>
            <a:r>
              <a:rPr lang="ru-RU" dirty="0" err="1"/>
              <a:t>Upfront</a:t>
            </a:r>
            <a:r>
              <a:rPr lang="ru-RU" dirty="0"/>
              <a:t>) – начальных этапов разработки.</a:t>
            </a:r>
          </a:p>
          <a:p>
            <a:r>
              <a:rPr lang="ru-RU" dirty="0"/>
              <a:t>3.	Итеративная разработка.</a:t>
            </a:r>
          </a:p>
          <a:p>
            <a:r>
              <a:rPr lang="ru-RU" dirty="0"/>
              <a:t>4.	Ограниченная функциональность, основанная на договоренностях.</a:t>
            </a:r>
          </a:p>
          <a:p>
            <a:r>
              <a:rPr lang="ru-RU" dirty="0"/>
              <a:t>5.	Фокусирование на качестве, достижимом в процессе тестирования.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1483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Agile</a:t>
            </a:r>
            <a:r>
              <a:rPr lang="ru-RU" b="1" dirty="0"/>
              <a:t> принципы</a:t>
            </a:r>
            <a:br>
              <a:rPr lang="ru-RU" sz="6000" dirty="0"/>
            </a:br>
            <a:r>
              <a:rPr lang="ru-RU" b="1" dirty="0"/>
              <a:t>Организационные</a:t>
            </a:r>
            <a:br>
              <a:rPr lang="ru-RU" sz="6000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Поставить клиента в центр.</a:t>
            </a:r>
            <a:endParaRPr lang="ru-RU" sz="4400" dirty="0"/>
          </a:p>
          <a:p>
            <a:pPr lvl="0"/>
            <a:r>
              <a:rPr lang="ru-RU" dirty="0"/>
              <a:t>Разрешать самоорганизацию команды.</a:t>
            </a:r>
            <a:endParaRPr lang="ru-RU" sz="4400" dirty="0"/>
          </a:p>
          <a:p>
            <a:pPr lvl="0"/>
            <a:r>
              <a:rPr lang="ru-RU" dirty="0"/>
              <a:t>Сохранять устойчивый темп разработки.</a:t>
            </a:r>
            <a:endParaRPr lang="ru-RU" sz="4400" dirty="0"/>
          </a:p>
          <a:p>
            <a:pPr lvl="0"/>
            <a:r>
              <a:rPr lang="ru-RU" dirty="0"/>
              <a:t>Разрабатывать минимально необходимое ПО:</a:t>
            </a:r>
            <a:endParaRPr lang="ru-RU" sz="4400" dirty="0"/>
          </a:p>
          <a:p>
            <a:pPr lvl="1"/>
            <a:r>
              <a:rPr lang="ru-RU" dirty="0"/>
              <a:t>Создавать минимальную функциональность.</a:t>
            </a:r>
            <a:endParaRPr lang="ru-RU" sz="4000" dirty="0"/>
          </a:p>
          <a:p>
            <a:pPr lvl="1"/>
            <a:r>
              <a:rPr lang="ru-RU" dirty="0"/>
              <a:t>Создавать только запрашиваемый продукт.</a:t>
            </a:r>
            <a:endParaRPr lang="ru-RU" sz="4000" dirty="0"/>
          </a:p>
          <a:p>
            <a:pPr lvl="1"/>
            <a:r>
              <a:rPr lang="ru-RU" dirty="0"/>
              <a:t>Разрабатывать только код и тесты.</a:t>
            </a:r>
            <a:endParaRPr lang="ru-RU" sz="4000" dirty="0"/>
          </a:p>
          <a:p>
            <a:pPr lvl="0"/>
            <a:r>
              <a:rPr lang="ru-RU" dirty="0"/>
              <a:t>Допускать изменения.</a:t>
            </a:r>
            <a:endParaRPr lang="ru-RU" sz="4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3759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Технические</a:t>
            </a:r>
            <a:endParaRPr lang="ru-RU" sz="4400" dirty="0"/>
          </a:p>
          <a:p>
            <a:pPr lvl="0"/>
            <a:r>
              <a:rPr lang="ru-RU" dirty="0"/>
              <a:t>Вести разработку итеративно:</a:t>
            </a:r>
            <a:endParaRPr lang="ru-RU" sz="4400" dirty="0"/>
          </a:p>
          <a:p>
            <a:pPr lvl="1"/>
            <a:r>
              <a:rPr lang="ru-RU" dirty="0"/>
              <a:t>Выполнять частые рабочие итерации.</a:t>
            </a:r>
            <a:endParaRPr lang="ru-RU" sz="4000" dirty="0"/>
          </a:p>
          <a:p>
            <a:pPr lvl="1"/>
            <a:r>
              <a:rPr lang="ru-RU" dirty="0"/>
              <a:t>Замораживать требования на время итерации.</a:t>
            </a:r>
            <a:endParaRPr lang="ru-RU" sz="4000" dirty="0"/>
          </a:p>
          <a:p>
            <a:pPr lvl="0"/>
            <a:r>
              <a:rPr lang="ru-RU" dirty="0"/>
              <a:t>Рассматривать тесты как ключевой ресурс:</a:t>
            </a:r>
            <a:endParaRPr lang="ru-RU" sz="4400" dirty="0"/>
          </a:p>
          <a:p>
            <a:pPr lvl="1"/>
            <a:r>
              <a:rPr lang="ru-RU" dirty="0"/>
              <a:t>Никакую новую разработку не начинать, пока не пройдут все тесты.</a:t>
            </a:r>
            <a:endParaRPr lang="ru-RU" sz="4000" dirty="0"/>
          </a:p>
          <a:p>
            <a:pPr lvl="1"/>
            <a:r>
              <a:rPr lang="ru-RU" dirty="0"/>
              <a:t>Вначале тесты.</a:t>
            </a:r>
            <a:endParaRPr lang="ru-RU" sz="4000" dirty="0"/>
          </a:p>
          <a:p>
            <a:pPr lvl="0"/>
            <a:r>
              <a:rPr lang="ru-RU" dirty="0"/>
              <a:t>Выражать требования через сценарии.</a:t>
            </a:r>
            <a:endParaRPr lang="ru-RU" sz="4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6995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Ключевые </a:t>
            </a:r>
            <a:r>
              <a:rPr lang="ru-RU" b="1" dirty="0" err="1"/>
              <a:t>agile</a:t>
            </a:r>
            <a:r>
              <a:rPr lang="ru-RU" b="1" dirty="0"/>
              <a:t> роли: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Команда (</a:t>
            </a:r>
            <a:r>
              <a:rPr lang="ru-RU" dirty="0" err="1"/>
              <a:t>Team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Владелец продукта (</a:t>
            </a:r>
            <a:r>
              <a:rPr lang="ru-RU" dirty="0" err="1"/>
              <a:t>Product</a:t>
            </a:r>
            <a:r>
              <a:rPr lang="ru-RU" dirty="0"/>
              <a:t> </a:t>
            </a:r>
            <a:r>
              <a:rPr lang="ru-RU" dirty="0" err="1"/>
              <a:t>owner</a:t>
            </a:r>
            <a:r>
              <a:rPr lang="ru-RU" dirty="0"/>
              <a:t>).</a:t>
            </a:r>
          </a:p>
          <a:p>
            <a:pPr lvl="0"/>
            <a:r>
              <a:rPr lang="ru-RU" dirty="0" err="1"/>
              <a:t>Scrum</a:t>
            </a:r>
            <a:r>
              <a:rPr lang="ru-RU" dirty="0"/>
              <a:t>-мастер (</a:t>
            </a:r>
            <a:r>
              <a:rPr lang="ru-RU" dirty="0" err="1"/>
              <a:t>Scrum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Потребитель (</a:t>
            </a:r>
            <a:r>
              <a:rPr lang="ru-RU" dirty="0" err="1"/>
              <a:t>Customer</a:t>
            </a:r>
            <a:r>
              <a:rPr lang="ru-RU" dirty="0"/>
              <a:t> – заказчик, пользователь).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6243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Ключевые </a:t>
            </a:r>
            <a:r>
              <a:rPr lang="ru-RU" b="1" dirty="0" err="1"/>
              <a:t>agile</a:t>
            </a:r>
            <a:r>
              <a:rPr lang="ru-RU" b="1" dirty="0"/>
              <a:t> практики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Организационные:</a:t>
            </a:r>
            <a:endParaRPr lang="ru-RU" dirty="0"/>
          </a:p>
          <a:p>
            <a:pPr lvl="0"/>
            <a:r>
              <a:rPr lang="ru-RU" dirty="0"/>
              <a:t>Ежедневные встречи (</a:t>
            </a:r>
            <a:r>
              <a:rPr lang="ru-RU" dirty="0" err="1"/>
              <a:t>Daily</a:t>
            </a:r>
            <a:r>
              <a:rPr lang="ru-RU" dirty="0"/>
              <a:t> </a:t>
            </a:r>
            <a:r>
              <a:rPr lang="ru-RU" dirty="0" err="1"/>
              <a:t>meeting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Игра в планирование, планирующий покер (</a:t>
            </a:r>
            <a:r>
              <a:rPr lang="ru-RU" dirty="0" err="1"/>
              <a:t>Planning</a:t>
            </a:r>
            <a:r>
              <a:rPr lang="ru-RU" dirty="0"/>
              <a:t> </a:t>
            </a:r>
            <a:r>
              <a:rPr lang="ru-RU" dirty="0" err="1"/>
              <a:t>game</a:t>
            </a:r>
            <a:r>
              <a:rPr lang="ru-RU" dirty="0"/>
              <a:t>, </a:t>
            </a:r>
            <a:r>
              <a:rPr lang="ru-RU" dirty="0" err="1"/>
              <a:t>planning</a:t>
            </a:r>
            <a:r>
              <a:rPr lang="ru-RU" dirty="0"/>
              <a:t> </a:t>
            </a:r>
            <a:r>
              <a:rPr lang="ru-RU" dirty="0" err="1"/>
              <a:t>poker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Непрерывная интеграция (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integration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Ретроспектива (</a:t>
            </a:r>
            <a:r>
              <a:rPr lang="ru-RU" dirty="0" err="1"/>
              <a:t>Retrospective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Разделяемое владение кодом (</a:t>
            </a:r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code</a:t>
            </a:r>
            <a:r>
              <a:rPr lang="ru-RU" dirty="0"/>
              <a:t> </a:t>
            </a:r>
            <a:r>
              <a:rPr lang="ru-RU" dirty="0" err="1"/>
              <a:t>ownership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b="1" dirty="0"/>
              <a:t>Технические</a:t>
            </a:r>
            <a:endParaRPr lang="ru-RU" dirty="0"/>
          </a:p>
          <a:p>
            <a:pPr lvl="0"/>
            <a:r>
              <a:rPr lang="ru-RU" dirty="0"/>
              <a:t>Тест-управляемая разработка (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driven</a:t>
            </a:r>
            <a:r>
              <a:rPr lang="ru-RU" dirty="0"/>
              <a:t> </a:t>
            </a:r>
            <a:r>
              <a:rPr lang="ru-RU" dirty="0" err="1"/>
              <a:t>development</a:t>
            </a:r>
            <a:r>
              <a:rPr lang="ru-RU" dirty="0"/>
              <a:t>).</a:t>
            </a:r>
          </a:p>
          <a:p>
            <a:pPr lvl="0"/>
            <a:r>
              <a:rPr lang="ru-RU" dirty="0" err="1"/>
              <a:t>Рефакторинг</a:t>
            </a:r>
            <a:r>
              <a:rPr lang="ru-RU" dirty="0"/>
              <a:t> (</a:t>
            </a:r>
            <a:r>
              <a:rPr lang="ru-RU" dirty="0" err="1"/>
              <a:t>Refactoring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Парное программирование (</a:t>
            </a:r>
            <a:r>
              <a:rPr lang="ru-RU" dirty="0" err="1"/>
              <a:t>Pair</a:t>
            </a:r>
            <a:r>
              <a:rPr lang="ru-RU" dirty="0"/>
              <a:t> </a:t>
            </a:r>
            <a:r>
              <a:rPr lang="ru-RU" dirty="0" err="1"/>
              <a:t>programming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Простейшее решение, которое только может работать (</a:t>
            </a:r>
            <a:r>
              <a:rPr lang="ru-RU" dirty="0" err="1"/>
              <a:t>Simplest</a:t>
            </a:r>
            <a:r>
              <a:rPr lang="ru-RU" dirty="0"/>
              <a:t> </a:t>
            </a:r>
            <a:r>
              <a:rPr lang="ru-RU" dirty="0" err="1"/>
              <a:t>solution</a:t>
            </a:r>
            <a:r>
              <a:rPr lang="ru-RU" dirty="0"/>
              <a:t> </a:t>
            </a:r>
            <a:r>
              <a:rPr lang="ru-RU" dirty="0" err="1"/>
              <a:t>that</a:t>
            </a:r>
            <a:r>
              <a:rPr lang="ru-RU" dirty="0"/>
              <a:t> </a:t>
            </a:r>
            <a:r>
              <a:rPr lang="ru-RU" dirty="0" err="1"/>
              <a:t>can</a:t>
            </a:r>
            <a:r>
              <a:rPr lang="ru-RU" dirty="0"/>
              <a:t> </a:t>
            </a:r>
            <a:r>
              <a:rPr lang="ru-RU" dirty="0" err="1"/>
              <a:t>possibly</a:t>
            </a:r>
            <a:r>
              <a:rPr lang="ru-RU" dirty="0"/>
              <a:t> </a:t>
            </a:r>
            <a:r>
              <a:rPr lang="ru-RU" dirty="0" err="1"/>
              <a:t>work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Стандарты кодирования (</a:t>
            </a:r>
            <a:r>
              <a:rPr lang="ru-RU" dirty="0" err="1"/>
              <a:t>Coding</a:t>
            </a:r>
            <a:r>
              <a:rPr lang="ru-RU" dirty="0"/>
              <a:t> </a:t>
            </a:r>
            <a:r>
              <a:rPr lang="ru-RU" dirty="0" err="1"/>
              <a:t>standards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15003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Ключевые </a:t>
            </a:r>
            <a:r>
              <a:rPr lang="ru-RU" b="1" dirty="0" err="1"/>
              <a:t>agile</a:t>
            </a:r>
            <a:r>
              <a:rPr lang="ru-RU" b="1" dirty="0"/>
              <a:t> артефакты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Виртуальные</a:t>
            </a:r>
            <a:endParaRPr lang="ru-RU" dirty="0"/>
          </a:p>
          <a:p>
            <a:pPr lvl="0"/>
            <a:r>
              <a:rPr lang="ru-RU" dirty="0"/>
              <a:t>Варианты использования (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case</a:t>
            </a:r>
            <a:r>
              <a:rPr lang="ru-RU" dirty="0"/>
              <a:t>, 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story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График ликвидации (</a:t>
            </a:r>
            <a:r>
              <a:rPr lang="ru-RU" dirty="0" err="1"/>
              <a:t>Burndown</a:t>
            </a:r>
            <a:r>
              <a:rPr lang="ru-RU" dirty="0"/>
              <a:t> </a:t>
            </a:r>
            <a:r>
              <a:rPr lang="ru-RU" dirty="0" err="1"/>
              <a:t>chart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b="1" dirty="0"/>
              <a:t>Материальные</a:t>
            </a:r>
            <a:endParaRPr lang="ru-RU" dirty="0"/>
          </a:p>
          <a:p>
            <a:pPr lvl="0"/>
            <a:r>
              <a:rPr lang="ru-RU" dirty="0"/>
              <a:t>Карты историй (</a:t>
            </a:r>
            <a:r>
              <a:rPr lang="ru-RU" dirty="0" err="1"/>
              <a:t>Story</a:t>
            </a:r>
            <a:r>
              <a:rPr lang="ru-RU" dirty="0"/>
              <a:t> </a:t>
            </a:r>
            <a:r>
              <a:rPr lang="ru-RU" dirty="0" err="1"/>
              <a:t>card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Панель историй (</a:t>
            </a:r>
            <a:r>
              <a:rPr lang="ru-RU" dirty="0" err="1"/>
              <a:t>Story</a:t>
            </a:r>
            <a:r>
              <a:rPr lang="ru-RU" dirty="0"/>
              <a:t> </a:t>
            </a:r>
            <a:r>
              <a:rPr lang="ru-RU" dirty="0" err="1"/>
              <a:t>board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Открытая комната (</a:t>
            </a:r>
            <a:r>
              <a:rPr lang="ru-RU" dirty="0" err="1"/>
              <a:t>Open</a:t>
            </a:r>
            <a:r>
              <a:rPr lang="ru-RU" dirty="0"/>
              <a:t> </a:t>
            </a:r>
            <a:r>
              <a:rPr lang="ru-RU" dirty="0" err="1"/>
              <a:t>room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9831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Вариант гибкого процесса - SCRUM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460" y="2348880"/>
            <a:ext cx="8686800" cy="5257800"/>
          </a:xfrm>
        </p:spPr>
        <p:txBody>
          <a:bodyPr>
            <a:normAutofit/>
          </a:bodyPr>
          <a:lstStyle/>
          <a:p>
            <a:r>
              <a:rPr lang="ru-RU" dirty="0" err="1"/>
              <a:t>Scrum</a:t>
            </a:r>
            <a:r>
              <a:rPr lang="en-US" dirty="0"/>
              <a:t> (c</a:t>
            </a:r>
            <a:r>
              <a:rPr lang="ru-RU" dirty="0" err="1"/>
              <a:t>крам</a:t>
            </a:r>
            <a:r>
              <a:rPr lang="en-US" dirty="0"/>
              <a:t>)</a:t>
            </a:r>
            <a:r>
              <a:rPr lang="ru-RU" dirty="0"/>
              <a:t> предоставляет эмпирический подход к разработке ПО. </a:t>
            </a:r>
          </a:p>
          <a:p>
            <a:pPr lvl="1"/>
            <a:r>
              <a:rPr lang="ru-RU" dirty="0"/>
              <a:t>методология управления разработкой информационных систем для гибкой разработки программного обеспечения. </a:t>
            </a:r>
          </a:p>
          <a:p>
            <a:r>
              <a:rPr lang="ru-RU" dirty="0"/>
              <a:t>Этот процесс является быстрым, адаптивным, может </a:t>
            </a:r>
            <a:r>
              <a:rPr lang="ru-RU" dirty="0" err="1"/>
              <a:t>самонастриваться</a:t>
            </a:r>
            <a:r>
              <a:rPr lang="ru-RU" dirty="0"/>
              <a:t> и отличается от последовательного (водопадного) подхода. </a:t>
            </a:r>
          </a:p>
          <a:p>
            <a:r>
              <a:rPr lang="ru-RU" dirty="0" err="1"/>
              <a:t>Scrum</a:t>
            </a:r>
            <a:r>
              <a:rPr lang="ru-RU" dirty="0"/>
              <a:t> основан на повторяющихся циклах, это делает его более гибким и предсказуемым.</a:t>
            </a:r>
          </a:p>
          <a:p>
            <a:endParaRPr lang="ru-RU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SCRUM</a:t>
            </a:r>
            <a:r>
              <a:rPr lang="ru-RU" dirty="0"/>
              <a:t>— это процесс, с помощью которого команда может разбить на части крупный проект и выполнять его постепенно, по одному фрагменту, при этом позволяя себе отклониться от намеченного пути, чтобы внести в продукт возможные усовершенствования.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 txBox="1">
            <a:spLocks noChangeArrowheads="1"/>
          </p:cNvSpPr>
          <p:nvPr/>
        </p:nvSpPr>
        <p:spPr bwMode="auto">
          <a:xfrm>
            <a:off x="425450" y="0"/>
            <a:ext cx="5654675" cy="105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100" dirty="0"/>
              <a:t>Scrum – </a:t>
            </a:r>
            <a:r>
              <a:rPr lang="ru-RU" sz="3100" dirty="0"/>
              <a:t>крупным планом</a:t>
            </a:r>
            <a:endParaRPr lang="en-US" sz="3100" b="1" dirty="0"/>
          </a:p>
        </p:txBody>
      </p:sp>
      <p:pic>
        <p:nvPicPr>
          <p:cNvPr id="15363" name="Picture 3" descr="C:\Users\Natalia\Desktop\Для презентаций\stickers-bullet\lin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650" y="1149350"/>
            <a:ext cx="8915400" cy="1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26" y="1340768"/>
            <a:ext cx="8492647" cy="462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93538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857232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b="1" dirty="0" err="1"/>
              <a:t>Джефф</a:t>
            </a:r>
            <a:r>
              <a:rPr lang="ru-RU" sz="2800" b="1" dirty="0"/>
              <a:t> Сазерленд, автор книги «</a:t>
            </a:r>
            <a:r>
              <a:rPr lang="ru-RU" sz="2800" b="1" dirty="0" err="1"/>
              <a:t>Scrum</a:t>
            </a:r>
            <a:r>
              <a:rPr lang="ru-RU" sz="2800" b="1" dirty="0"/>
              <a:t>. Революционный метод управления проектами» выделил 8 шагов по использованию методики:</a:t>
            </a:r>
            <a:br>
              <a:rPr lang="ru-RU" sz="2800" b="1" dirty="0"/>
            </a:br>
            <a:endParaRPr lang="ru-RU" sz="28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772816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ru-RU" dirty="0"/>
              <a:t>Выберите </a:t>
            </a:r>
            <a:r>
              <a:rPr lang="ru-RU" b="1" dirty="0"/>
              <a:t>владельца продукта </a:t>
            </a:r>
            <a:r>
              <a:rPr lang="ru-RU" dirty="0"/>
              <a:t>— он знает о цели проекта и ожидаемом результате.</a:t>
            </a:r>
          </a:p>
          <a:p>
            <a:pPr lvl="0"/>
            <a:r>
              <a:rPr lang="ru-RU" dirty="0"/>
              <a:t>Соберите </a:t>
            </a:r>
            <a:r>
              <a:rPr lang="ru-RU" b="1" dirty="0"/>
              <a:t>команду </a:t>
            </a:r>
            <a:r>
              <a:rPr lang="ru-RU" dirty="0"/>
              <a:t>— до 10 человек с необходимыми для создания работоспособного продукта навыками.</a:t>
            </a:r>
          </a:p>
          <a:p>
            <a:pPr lvl="0"/>
            <a:r>
              <a:rPr lang="ru-RU" dirty="0"/>
              <a:t>Найдите </a:t>
            </a:r>
            <a:r>
              <a:rPr lang="ru-RU" b="1" dirty="0" err="1"/>
              <a:t>скрам-мастера</a:t>
            </a:r>
            <a:r>
              <a:rPr lang="ru-RU" dirty="0"/>
              <a:t> — он следит за ходом проекта, помогает проектной команде бороться с трудностями.</a:t>
            </a:r>
          </a:p>
          <a:p>
            <a:pPr lvl="0"/>
            <a:r>
              <a:rPr lang="ru-RU" dirty="0"/>
              <a:t>Составьте</a:t>
            </a:r>
            <a:r>
              <a:rPr lang="ru-RU" b="1" dirty="0"/>
              <a:t> </a:t>
            </a:r>
            <a:r>
              <a:rPr lang="ru-RU" b="1" dirty="0" err="1"/>
              <a:t>бэклог</a:t>
            </a:r>
            <a:r>
              <a:rPr lang="ru-RU" b="1" dirty="0"/>
              <a:t> продукта </a:t>
            </a:r>
            <a:r>
              <a:rPr lang="ru-RU" dirty="0"/>
              <a:t>— на Agile-доске расставьте приоритеты по каждому требованию к продукту. В этом большую роль играет владелец продукта, который собирает пожелания к продукту для оценки командой </a:t>
            </a:r>
            <a:r>
              <a:rPr lang="ru-RU" dirty="0" err="1"/>
              <a:t>бэклога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Запланируйте </a:t>
            </a:r>
            <a:r>
              <a:rPr lang="ru-RU" b="1" dirty="0"/>
              <a:t>спринты </a:t>
            </a:r>
            <a:r>
              <a:rPr lang="ru-RU" dirty="0"/>
              <a:t>(итерации) — отрезки времени на выполнение определенного ряда задач.</a:t>
            </a:r>
          </a:p>
          <a:p>
            <a:pPr lvl="0"/>
            <a:r>
              <a:rPr lang="ru-RU" dirty="0"/>
              <a:t>Организовывайте </a:t>
            </a:r>
            <a:r>
              <a:rPr lang="ru-RU" b="1" dirty="0"/>
              <a:t>ежедневные пятнадцатиминутные «</a:t>
            </a:r>
            <a:r>
              <a:rPr lang="ru-RU" b="1" dirty="0" err="1"/>
              <a:t>мит-апы</a:t>
            </a:r>
            <a:r>
              <a:rPr lang="ru-RU" b="1" dirty="0"/>
              <a:t>»</a:t>
            </a:r>
            <a:r>
              <a:rPr lang="ru-RU" dirty="0"/>
              <a:t> — задавайте по 3 вопроса каждому из команды: что делал вчера, что будет сегодня, что мешает выполнить задачу.</a:t>
            </a:r>
          </a:p>
          <a:p>
            <a:pPr lvl="0"/>
            <a:r>
              <a:rPr lang="ru-RU" dirty="0"/>
              <a:t>Делайте </a:t>
            </a:r>
            <a:r>
              <a:rPr lang="ru-RU" b="1" dirty="0"/>
              <a:t>обзоры рабочих частей продукта </a:t>
            </a:r>
            <a:r>
              <a:rPr lang="ru-RU" dirty="0"/>
              <a:t>— с вовлечением в просмотр и обсуждение </a:t>
            </a:r>
            <a:r>
              <a:rPr lang="ru-RU" dirty="0" err="1"/>
              <a:t>стейкхолдеров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Проводите </a:t>
            </a:r>
            <a:r>
              <a:rPr lang="ru-RU" b="1" dirty="0"/>
              <a:t>ретроспективу </a:t>
            </a:r>
            <a:r>
              <a:rPr lang="ru-RU" dirty="0"/>
              <a:t>— обсуждение проблемы и поиск решения после каждого спринта. Полученный план изменения внедряете на следующем спринте.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b="1" dirty="0"/>
              <a:t>Главные принципы </a:t>
            </a:r>
            <a:r>
              <a:rPr lang="ru-RU" b="1" dirty="0" err="1"/>
              <a:t>Scrum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628800"/>
            <a:ext cx="8640960" cy="496855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Индивидуализм и взаимодействие важнее строгих процессов и методов.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Работающее ПО важнее сложной документации.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Взаимодействие с заказчиками важнее контрактных договоренностей.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Готовность изменить важнее следованию плану.</a:t>
            </a:r>
          </a:p>
          <a:p>
            <a:endParaRPr lang="ru-RU" dirty="0"/>
          </a:p>
          <a:p>
            <a:r>
              <a:rPr lang="ru-RU" dirty="0" err="1"/>
              <a:t>Scrum</a:t>
            </a:r>
            <a:r>
              <a:rPr lang="ru-RU" dirty="0"/>
              <a:t>, как и другие способы быстрой разработки ПО лежит вне того представления, что главной задачей является делать все возможное для следования плану. </a:t>
            </a:r>
          </a:p>
          <a:p>
            <a:r>
              <a:rPr lang="ru-RU" dirty="0" err="1"/>
              <a:t>Scrum</a:t>
            </a:r>
            <a:r>
              <a:rPr lang="ru-RU" dirty="0"/>
              <a:t> — это искусство возможного.</a:t>
            </a:r>
          </a:p>
          <a:p>
            <a:r>
              <a:rPr lang="ru-RU" dirty="0"/>
              <a:t>Девизом </a:t>
            </a:r>
            <a:r>
              <a:rPr lang="ru-RU" dirty="0" err="1"/>
              <a:t>Scrum’a</a:t>
            </a:r>
            <a:r>
              <a:rPr lang="ru-RU" dirty="0"/>
              <a:t> можно считать - следование здравому смыслу.</a:t>
            </a:r>
          </a:p>
          <a:p>
            <a:endParaRPr lang="ru-RU" b="1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392906" y="857250"/>
          <a:ext cx="7886701" cy="4236658"/>
        </p:xfrm>
        <a:graphic>
          <a:graphicData uri="http://schemas.openxmlformats.org/drawingml/2006/table">
            <a:tbl>
              <a:tblPr firstRow="1" firstCol="1" bandRow="1"/>
              <a:tblGrid>
                <a:gridCol w="1471613">
                  <a:extLst>
                    <a:ext uri="{9D8B030D-6E8A-4147-A177-3AD203B41FA5}">
                      <a16:colId xmlns:a16="http://schemas.microsoft.com/office/drawing/2014/main" val="2006787719"/>
                    </a:ext>
                  </a:extLst>
                </a:gridCol>
                <a:gridCol w="3786188">
                  <a:extLst>
                    <a:ext uri="{9D8B030D-6E8A-4147-A177-3AD203B41FA5}">
                      <a16:colId xmlns:a16="http://schemas.microsoft.com/office/drawing/2014/main" val="41085052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35141477"/>
                    </a:ext>
                  </a:extLst>
                </a:gridCol>
              </a:tblGrid>
              <a:tr h="2588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Вес модели</a:t>
                      </a:r>
                      <a:endParaRPr lang="ru-RU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71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Плюсы</a:t>
                      </a:r>
                      <a:endParaRPr lang="ru-RU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71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Минусы</a:t>
                      </a:r>
                      <a:endParaRPr lang="ru-RU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71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301552"/>
                  </a:ext>
                </a:extLst>
              </a:tr>
              <a:tr h="16343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Тяжелые</a:t>
                      </a:r>
                      <a:endParaRPr lang="ru-RU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71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Процессы рассчитаны на среднюю квалификацию исполнителей. Большая специализация исполнителей. Ниже требования к стабильности команды.</a:t>
                      </a:r>
                      <a:endParaRPr lang="ru-RU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Отсутствуют ограничения по объему и сложности выполняемых проектов.</a:t>
                      </a:r>
                      <a:endParaRPr lang="ru-RU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71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Требуют существенной управленческой надстройки.</a:t>
                      </a:r>
                      <a:endParaRPr lang="ru-RU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Более длительные стадии анализа и проектирования.</a:t>
                      </a:r>
                      <a:endParaRPr lang="ru-RU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Более формализованные оммуникации.</a:t>
                      </a:r>
                      <a:endParaRPr lang="ru-RU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71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204759"/>
                  </a:ext>
                </a:extLst>
              </a:tr>
              <a:tr h="22919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Легкие</a:t>
                      </a:r>
                      <a:endParaRPr lang="ru-RU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71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Меньше непроизводительных расходов, связанных с управлением проектом, рисками, изменениями, конфигурациями.</a:t>
                      </a:r>
                      <a:endParaRPr lang="ru-RU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Упрощенные стадии анализа и проектирования, основной упор на разработку функциональности, совмещение ролей. Неформальные коммуникации.</a:t>
                      </a:r>
                      <a:endParaRPr lang="ru-RU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71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Эффективность сильно зависит от индивидуальных способностей, требуют более квалифицированной, универсальной и стабильной команды.</a:t>
                      </a:r>
                      <a:endParaRPr lang="ru-RU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Объем и сложность выполняемых проектов ограничены.</a:t>
                      </a:r>
                      <a:endParaRPr lang="ru-RU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7144" marB="71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603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1278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628800"/>
            <a:ext cx="80010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66140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2410</TotalTime>
  <Words>3353</Words>
  <Application>Microsoft Office PowerPoint</Application>
  <PresentationFormat>Экран (4:3)</PresentationFormat>
  <Paragraphs>330</Paragraphs>
  <Slides>35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Arial</vt:lpstr>
      <vt:lpstr>Arial Narrow</vt:lpstr>
      <vt:lpstr>Calibri</vt:lpstr>
      <vt:lpstr>Calibri Light</vt:lpstr>
      <vt:lpstr>Tahoma</vt:lpstr>
      <vt:lpstr>Ретро</vt:lpstr>
      <vt:lpstr>Тема 3  Классические методологии разработки цифрового продукта</vt:lpstr>
      <vt:lpstr>Основные вопросы</vt:lpstr>
      <vt:lpstr>Презентация PowerPoint</vt:lpstr>
      <vt:lpstr>Водопадная модель</vt:lpstr>
      <vt:lpstr>Презентация PowerPoint</vt:lpstr>
      <vt:lpstr>Презентация PowerPoint</vt:lpstr>
      <vt:lpstr>V-образная модель</vt:lpstr>
      <vt:lpstr>V-образная модель</vt:lpstr>
      <vt:lpstr>Презентация PowerPoint</vt:lpstr>
      <vt:lpstr>Когда использовать V-модель? </vt:lpstr>
      <vt:lpstr> Модель прототипирования</vt:lpstr>
      <vt:lpstr>Виды прототипирования</vt:lpstr>
      <vt:lpstr>Презентация PowerPoint</vt:lpstr>
      <vt:lpstr>Когда использовать метод прототипирования </vt:lpstr>
      <vt:lpstr>Итеративная разработка</vt:lpstr>
      <vt:lpstr>Фазы итеративной модели</vt:lpstr>
      <vt:lpstr>Презентация PowerPoint</vt:lpstr>
      <vt:lpstr>Спиральная модель</vt:lpstr>
      <vt:lpstr>Презентация PowerPoint</vt:lpstr>
      <vt:lpstr>Презентация PowerPoint</vt:lpstr>
      <vt:lpstr>Презентация PowerPoint</vt:lpstr>
      <vt:lpstr>Agile</vt:lpstr>
      <vt:lpstr>Общие agile предпосылки </vt:lpstr>
      <vt:lpstr>Agile принципы Организационные </vt:lpstr>
      <vt:lpstr>Презентация PowerPoint</vt:lpstr>
      <vt:lpstr>Ключевые agile роли: </vt:lpstr>
      <vt:lpstr>Ключевые agile практики </vt:lpstr>
      <vt:lpstr>Ключевые agile артефакты </vt:lpstr>
      <vt:lpstr>Вариант гибкого процесса - SCRUM</vt:lpstr>
      <vt:lpstr>Презентация PowerPoint</vt:lpstr>
      <vt:lpstr>Презентация PowerPoint</vt:lpstr>
      <vt:lpstr>Джефф Сазерленд, автор книги «Scrum. Революционный метод управления проектами» выделил 8 шагов по использованию методики: </vt:lpstr>
      <vt:lpstr>Главные принципы Scrum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Dir</dc:creator>
  <cp:lastModifiedBy>User</cp:lastModifiedBy>
  <cp:revision>80</cp:revision>
  <dcterms:created xsi:type="dcterms:W3CDTF">2020-01-09T11:22:02Z</dcterms:created>
  <dcterms:modified xsi:type="dcterms:W3CDTF">2024-09-17T10:43:55Z</dcterms:modified>
</cp:coreProperties>
</file>